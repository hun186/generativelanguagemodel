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t>本次固定測試集：100 RawID</a:t>
            </a:r>
          </a:p>
        </c:rich>
      </c:tx>
      <c:layout/>
      <c:overlay val="0"/>
    </c:title>
    <c:autoTitleDeleted val="0"/>
    <c:plotArea>
      <c:layout/>
      <c:doughnutChart>
        <c:varyColors val="1"/>
        <c:ser>
          <c:idx val="0"/>
          <c:order val="0"/>
          <c:tx>
            <c:strRef>
              <c:f>Sheet1!$B$1</c:f>
              <c:strCache>
                <c:ptCount val="1"/>
                <c:pt idx="0">
                  <c:v>樣本數</c:v>
                </c:pt>
              </c:strCache>
            </c:strRef>
          </c:tx>
          <c:cat>
            <c:strRef>
              <c:f>Sheet1!$A$2:$A$3</c:f>
              <c:strCache>
                <c:ptCount val="2"/>
                <c:pt idx="0">
                  <c:v>相關 RawID</c:v>
                </c:pt>
                <c:pt idx="1">
                  <c:v>不相關 RawID</c:v>
                </c:pt>
              </c:strCache>
            </c:strRef>
          </c:cat>
          <c:val>
            <c:numRef>
              <c:f>Sheet1!$B$2:$B$3</c:f>
              <c:numCache>
                <c:formatCode>General</c:formatCode>
                <c:ptCount val="2"/>
                <c:pt idx="0">
                  <c:v>40</c:v>
                </c:pt>
                <c:pt idx="1">
                  <c:v>60</c:v>
                </c:pt>
              </c:numCache>
            </c:numRef>
          </c:val>
        </c:ser>
        <c:dLbls>
          <c:showLegendKey val="0"/>
          <c:showVal val="0"/>
          <c:showCatName val="0"/>
          <c:showSerName val="0"/>
          <c:showPercent val="1"/>
          <c:showBubbleSize val="0"/>
          <c:showLeaderLines val="1"/>
        </c:dLbls>
        <c:firstSliceAng val="0"/>
        <c:holeSize val="50"/>
      </c:doughnutChart>
    </c:plotArea>
    <c:legend>
      <c:legendPos val="tr"/>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Qwen3.6：核心品質指標 (%)</a:t>
            </a:r>
          </a:p>
        </c:rich>
      </c:tx>
      <c:layout/>
      <c:overlay val="0"/>
    </c:title>
    <c:autoTitleDeleted val="0"/>
    <c:plotArea>
      <c:barChart>
        <c:barDir val="bar"/>
        <c:grouping val="clustered"/>
        <c:ser>
          <c:idx val="0"/>
          <c:order val="0"/>
          <c:tx>
            <c:strRef>
              <c:f>Sheet1!$B$1</c:f>
              <c:strCache>
                <c:ptCount val="1"/>
                <c:pt idx="0">
                  <c:v>Qwen3.6</c:v>
                </c:pt>
              </c:strCache>
            </c:strRef>
          </c:tx>
          <c:cat>
            <c:strRef>
              <c:f>Sheet1!$A$2:$A$7</c:f>
              <c:strCache>
                <c:ptCount val="6"/>
                <c:pt idx="0">
                  <c:v>正文 Precision</c:v>
                </c:pt>
                <c:pt idx="1">
                  <c:v>正文 Recall</c:v>
                </c:pt>
                <c:pt idx="2">
                  <c:v>RawID Coverage</c:v>
                </c:pt>
                <c:pt idx="3">
                  <c:v>EvidenceGroup F1</c:v>
                </c:pt>
                <c:pt idx="4">
                  <c:v>Raw Trace</c:v>
                </c:pt>
                <c:pt idx="5">
                  <c:v>Unresolved Recall</c:v>
                </c:pt>
              </c:strCache>
            </c:strRef>
          </c:cat>
          <c:val>
            <c:numRef>
              <c:f>Sheet1!$B$2:$B$7</c:f>
              <c:numCache>
                <c:formatCode>General</c:formatCode>
                <c:ptCount val="6"/>
                <c:pt idx="0">
                  <c:v>100</c:v>
                </c:pt>
                <c:pt idx="1">
                  <c:v>83.3</c:v>
                </c:pt>
                <c:pt idx="2">
                  <c:v>57.5</c:v>
                </c:pt>
                <c:pt idx="3">
                  <c:v>42.9</c:v>
                </c:pt>
                <c:pt idx="4">
                  <c:v>40</c:v>
                </c:pt>
                <c:pt idx="5">
                  <c:v>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100.0"/>
          <c:min val="0.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Kimi K3：自訂加權構面得分率 (%)</a:t>
            </a:r>
          </a:p>
        </c:rich>
      </c:tx>
      <c:layout/>
      <c:overlay val="0"/>
    </c:title>
    <c:autoTitleDeleted val="0"/>
    <c:plotArea>
      <c:barChart>
        <c:barDir val="bar"/>
        <c:grouping val="clustered"/>
        <c:ser>
          <c:idx val="0"/>
          <c:order val="0"/>
          <c:tx>
            <c:strRef>
              <c:f>Sheet1!$B$1</c:f>
              <c:strCache>
                <c:ptCount val="1"/>
                <c:pt idx="0">
                  <c:v>得分率</c:v>
                </c:pt>
              </c:strCache>
            </c:strRef>
          </c:tx>
          <c:cat>
            <c:strRef>
              <c:f>Sheet1!$A$2:$A$7</c:f>
              <c:strCache>
                <c:ptCount val="6"/>
                <c:pt idx="0">
                  <c:v>相關性篩選</c:v>
                </c:pt>
                <c:pt idx="1">
                  <c:v>正文還原</c:v>
                </c:pt>
                <c:pt idx="2">
                  <c:v>Unresolved</c:v>
                </c:pt>
                <c:pt idx="3">
                  <c:v>Trace / RawID</c:v>
                </c:pt>
                <c:pt idx="4">
                  <c:v>JSON / 稽核</c:v>
                </c:pt>
                <c:pt idx="5">
                  <c:v>時序治理</c:v>
                </c:pt>
              </c:strCache>
            </c:strRef>
          </c:cat>
          <c:val>
            <c:numRef>
              <c:f>Sheet1!$B$2:$B$7</c:f>
              <c:numCache>
                <c:formatCode>General</c:formatCode>
                <c:ptCount val="6"/>
                <c:pt idx="0">
                  <c:v>100</c:v>
                </c:pt>
                <c:pt idx="1">
                  <c:v>100</c:v>
                </c:pt>
                <c:pt idx="2">
                  <c:v>100</c:v>
                </c:pt>
                <c:pt idx="3">
                  <c:v>100</c:v>
                </c:pt>
                <c:pt idx="4">
                  <c:v>100</c:v>
                </c:pt>
                <c:pt idx="5">
                  <c:v>40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100.0"/>
          <c:min val="0.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本次實測對比（% / 自訂分數）</a:t>
            </a:r>
          </a:p>
        </c:rich>
      </c:tx>
      <c:layout/>
      <c:overlay val="0"/>
    </c:title>
    <c:autoTitleDeleted val="0"/>
    <c:plotArea>
      <c:barChart>
        <c:barDir val="col"/>
        <c:grouping val="clustered"/>
        <c:ser>
          <c:idx val="0"/>
          <c:order val="0"/>
          <c:tx>
            <c:strRef>
              <c:f>Sheet1!$B$1</c:f>
              <c:strCache>
                <c:ptCount val="1"/>
                <c:pt idx="0">
                  <c:v>Qwen3.6</c:v>
                </c:pt>
              </c:strCache>
            </c:strRef>
          </c:tx>
          <c:cat>
            <c:strRef>
              <c:f>Sheet1!$A$2:$A$6</c:f>
              <c:strCache>
                <c:ptCount val="5"/>
                <c:pt idx="0">
                  <c:v>正文能力</c:v>
                </c:pt>
                <c:pt idx="1">
                  <c:v>RawID 覆蓋</c:v>
                </c:pt>
                <c:pt idx="2">
                  <c:v>Unresolved</c:v>
                </c:pt>
                <c:pt idx="3">
                  <c:v>Evidence / Trace</c:v>
                </c:pt>
                <c:pt idx="4">
                  <c:v>部署成熟度</c:v>
                </c:pt>
              </c:strCache>
            </c:strRef>
          </c:cat>
          <c:val>
            <c:numRef>
              <c:f>Sheet1!$B$2:$B$6</c:f>
              <c:numCache>
                <c:formatCode>General</c:formatCode>
                <c:ptCount val="5"/>
                <c:pt idx="0">
                  <c:v>90.9</c:v>
                </c:pt>
                <c:pt idx="1">
                  <c:v>57.5</c:v>
                </c:pt>
                <c:pt idx="2">
                  <c:v>0</c:v>
                </c:pt>
                <c:pt idx="3">
                  <c:v>50</c:v>
                </c:pt>
                <c:pt idx="4">
                  <c:v>62</c:v>
                </c:pt>
              </c:numCache>
            </c:numRef>
          </c:val>
        </c:ser>
        <c:ser>
          <c:idx val="1"/>
          <c:order val="1"/>
          <c:tx>
            <c:strRef>
              <c:f>Sheet1!$C$1</c:f>
              <c:strCache>
                <c:ptCount val="1"/>
                <c:pt idx="0">
                  <c:v>Kimi K3</c:v>
                </c:pt>
              </c:strCache>
            </c:strRef>
          </c:tx>
          <c:cat>
            <c:strRef>
              <c:f>Sheet1!$A$2:$A$6</c:f>
              <c:strCache>
                <c:ptCount val="5"/>
                <c:pt idx="0">
                  <c:v>正文能力</c:v>
                </c:pt>
                <c:pt idx="1">
                  <c:v>RawID 覆蓋</c:v>
                </c:pt>
                <c:pt idx="2">
                  <c:v>Unresolved</c:v>
                </c:pt>
                <c:pt idx="3">
                  <c:v>Evidence / Trace</c:v>
                </c:pt>
                <c:pt idx="4">
                  <c:v>部署成熟度</c:v>
                </c:pt>
              </c:strCache>
            </c:strRef>
          </c:cat>
          <c:val>
            <c:numRef>
              <c:f>Sheet1!$C$2:$C$6</c:f>
              <c:numCache>
                <c:formatCode>General</c:formatCode>
                <c:ptCount val="5"/>
                <c:pt idx="0">
                  <c:v>100</c:v>
                </c:pt>
                <c:pt idx="1">
                  <c:v>100</c:v>
                </c:pt>
                <c:pt idx="2">
                  <c:v>100</c:v>
                </c:pt>
                <c:pt idx="3">
                  <c:v>100</c:v>
                </c:pt>
                <c:pt idx="4">
                  <c:v>97</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Today I will present a practical study on reconstructing fragmented text messages with large language models. The problem sounds simple, but it becomes difficult when one message is split across several records, when unrelated messages arrive at nearly the same time, or when fragments are missing. Our study combines synthetic data generation, prompt engineering, open-source model evaluation, and deployment analysis. I will focus on two models: Qwen3.6 in a local environment, and Kimi K3 evaluated through Hugging Face. The key question is not only whether an LLM can reconstruct a readable message, but whether the result is traceable, auditable, and safe enough for real operational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point is that this is not a summarization task. In summarization, small wording changes may be acceptable. In reconstruction, provenance matters. We need to know exactly which fragments belong together, their correct order, and whether any fragment is missing. A fluent sentence can actually be dangerous if the model has silently combined two different events. Therefore, our output contains more than reconstructed text. We also keep evidence groups, a RawID ledger, unresolved cases, confidence information, and a review flag. This changes the objective from “produce something that reads well” to “produce something that can be verified against the original records.”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uses ChatGPT in several roles, but not as the final evaluator. First, ChatGPT helps generate controlled synthetic cases. Second, we define a human-reviewed gold standard and deterministic rules. Third, open-source models reconstruct the messages without seeing the expected answers. We then use ChatGPT to help categorize errors and identify recurring failure patterns. Based on those patterns, we refine the prompt, output schema, and validation protocol. Finally, we rerun the same frozen test set. This separation is important because otherwise prompt tuning can become accidental overfitting. The evaluation target must remain stable while the model instructions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is useful because we can deliberately create difficult cases that may be rare in real datasets. We first ask ChatGPT to generate complete messages with clear event anchors. Then we fragment them into two to four records and perturb the metadata. We can add delays, repeated broadcasts, different recipients, missing segments, and noisy characters. Importantly, we also add unrelated negative samples. In this test set, 40 RawIDs are relevant and 60 are distractors. Human review then establishes the gold standard. The dataset therefore tests not only reconstruction ability, but also restraint: a good system must know when not to merge.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evolved through observed failures. Version one relied mostly on semantic continuity. It often produced fluent results, but sometimes removed repeated words or filled gaps. Version two added metadata constraints such as addresses and time windows. Version three introduced a RawID ledger, requiring every relevant fragment to have one and only one destination. Version four added an unresolved gate, so the model could explicitly say that the evidence was insufficient. Version five added trace information and deterministic validation. The important methodological change is that prompt engineering gradually becomes protocol engineering. We are no longer asking only for better language; we are specifying a verifiable decision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evaluation, we deliberately avoid a single text-similarity score. Exact reconstruction is important, but operational reliability depends on several dimensions. Relevant RawID coverage checks whether fragments disappear. EvidenceGroup F1 checks whether the provenance chain is correct. Raw-to-clean traceability checks whether cleaning operations can be audited. Unresolved recall measures whether the model safely preserves ambiguity instead of inventing certainty. Finally, JSON and referential integrity determine whether the result can be consumed by software. This framework reflects a broader lesson for LLM applications: a model can produce excellent prose and still fail as a component in a production information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at Qwen3.6 in the local environment. Its reconstructed text was quite strong. Precision was 100 percent, recall was 83.3 percent, and the resulting text F1 was 90.9 percent. However, the audit chain was much weaker. Only 57.5 percent of relevant RawIDs received a final destination, and unresolved recall was zero. In other words, the model was good at producing correct messages when it decided to produce them, but it was not yet reliable at accounting for every fragment and every ambiguous case. So our current recommendation is to use it as a candidate generator behind a strict validator.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performed much better on the same core task in our Hugging Face evaluation. It accounted for all 40 relevant RawIDs, reconstructed all six complete messages, and correctly preserved all three unresolved groups. Our custom deployment-readiness score was 97 out of 100. However, there was still one important governance issue: an EvidenceGroup crossed dates. That suggests we need to distinguish evidence supporting the same textual content from evidence belonging to the same transmission occurrence. Also, this result comes from a hosted Hugging Face environment. It tells us about task quality, but it does not yet tell us the latency, throughput, memory footprint, or operational cost of a local Kimi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compare the two models, the biggest difference is not basic language fluency. Both can understand the message content. The gap appears in governance behavior: RawID accounting, unresolved cases, evidence traceability, and adherence to the output protocol. Kimi K3 was clearly stronger on these dimensions in this particular test. Qwen3.6, however, already has an important operational advantage: it is running locally and can be integrated directly into an internal environment. So this slide should not be read as a universal model ranking. It is a comparison of task behavior under two different execution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most important deployment trade-off in our study. Kimi K3 was nearly perfect on our fragmented-message reconstruction task, but it is also an extremely large model. K3 has roughly 2.8 trillion total parameters, with about 104 billion activated for each token, across 896 experts. The key point is that 104 billion active parameters mainly reduces computation; it does not reduce the model to a 104-billion-parameter memory footprint. As a very rough lower-bound estimate, 2.8 trillion parameters at four bits already represent about 1.4 terabytes of raw weights. Real serving needs additional memory for KV cache, runtime workspace, communication buffers, and headroom. Once memory reaches this scale, deployment becomes a GPU-fabric problem: expert parallelism, all-to-all communication, high-bandwidth interconnects, cross-node scheduling, and fault tolerance. So K3 demonstrates an impressive capability ceiling, but for most conventional enterprises, full on-premises deployment becomes a large AI-cluster project rather than a normal server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recommended production architecture separates probabilistic reasoning from deterministic enforcement. Candidate generation first narrows the search space. The LLM then proposes assemblies and explains the evidence relationship. After that, a deterministic validator checks the JSON schema, RawID uniqueness, coverage, referential integrity, and traceability. High-risk cases go through a human review gate before entering the canonical message database. This architecture also makes the model replaceable. Qwen, Kimi, or another model can sit behind the same interface. That is important because the governance logic should survive model upgrades. In production, the model should be a component of the system, not the system itself.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like to close with three takeaways. First, synthetic data can turn an ambiguous application idea into a repeatable benchmark. Second, prompt optimization becomes much more useful when it evolves into an explicit protocol with ledgers, unresolved states, traceability, and validators. Third, deployment decisions must be made at the system level. Kimi K3 was nearly perfect in our hosted reconstruction test, but its 2.8-trillion-parameter scale pushes full local deployment into supercluster territory. Qwen3.6 therefore offers a much more realistic integration path for a conventional enterprise environment. The final decision should not ask only which model is more accurate. It should balance task quality with infrastructure requirements, cost, data governance, operational complexity, and long-term maintainability.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clarifies the evidence behind the comparison. Both results come from the same type of 100-RawID reconstruction benchmark, but the execution environments are different. Qwen3.6 was evaluated locally, while Kimi K3 was evaluated through Hugging Face. Therefore, the reported numbers are task-level results, not a universal benchmark of model intelligence or speed. Before deployment, we need a larger test set, repeated runs under fixed parameters, and operational measurements such as P50 and P95 latency, throughput, token consumption, and hardware utilization. The central research claim is that model capability alone is not enough; the deployable unit is model plus protocol plus validation plus review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389120"/>
            <a:ext cx="3840480" cy="658368"/>
          </a:xfrm>
          <a:prstGeom prst="roundRect">
            <a:avLst/>
          </a:prstGeom>
          <a:solidFill>
            <a:srgbClr val="233755"/>
          </a:solidFill>
          <a:ln>
            <a:solidFill>
              <a:srgbClr val="50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0"/>
            <a:ext cx="3474720" cy="274320"/>
          </a:xfrm>
          <a:prstGeom prst="rect">
            <a:avLst/>
          </a:prstGeom>
          <a:noFill/>
        </p:spPr>
        <p:txBody>
          <a:bodyPr wrap="none">
            <a:spAutoFit/>
          </a:bodyPr>
          <a:lstStyle/>
          <a:p>
            <a:pPr>
              <a:defRPr sz="1200">
                <a:solidFill>
                  <a:srgbClr val="FFFFFF"/>
                </a:solidFill>
              </a:defRPr>
            </a:pPr>
            <a:r>
              <a:rPr/>
              <a:t>Cable work zone E-12 starts at 8 p.m. …</a:t>
            </a:r>
          </a:p>
        </p:txBody>
      </p:sp>
      <p:sp>
        <p:nvSpPr>
          <p:cNvPr id="5" name="Rounded Rectangle 4"/>
          <p:cNvSpPr/>
          <p:nvPr/>
        </p:nvSpPr>
        <p:spPr>
          <a:xfrm>
            <a:off x="1234440" y="4005072"/>
            <a:ext cx="3840480" cy="658368"/>
          </a:xfrm>
          <a:prstGeom prst="roundRect">
            <a:avLst/>
          </a:prstGeom>
          <a:solidFill>
            <a:srgbClr val="2D415F"/>
          </a:solidFill>
          <a:ln>
            <a:solidFill>
              <a:srgbClr val="50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35608" y="4187952"/>
            <a:ext cx="3474720" cy="274320"/>
          </a:xfrm>
          <a:prstGeom prst="rect">
            <a:avLst/>
          </a:prstGeom>
          <a:noFill/>
        </p:spPr>
        <p:txBody>
          <a:bodyPr wrap="none">
            <a:spAutoFit/>
          </a:bodyPr>
          <a:lstStyle/>
          <a:p>
            <a:pPr>
              <a:defRPr sz="1200">
                <a:solidFill>
                  <a:srgbClr val="FFFFFF"/>
                </a:solidFill>
              </a:defRPr>
            </a:pPr>
            <a:r>
              <a:rPr/>
              <a:t>… keep three nautical miles from the work vessel and guard buoy …</a:t>
            </a:r>
          </a:p>
        </p:txBody>
      </p:sp>
      <p:sp>
        <p:nvSpPr>
          <p:cNvPr id="7" name="Rounded Rectangle 6"/>
          <p:cNvSpPr/>
          <p:nvPr/>
        </p:nvSpPr>
        <p:spPr>
          <a:xfrm>
            <a:off x="1737360" y="3621024"/>
            <a:ext cx="3840480" cy="658368"/>
          </a:xfrm>
          <a:prstGeom prst="roundRect">
            <a:avLst/>
          </a:prstGeom>
          <a:solidFill>
            <a:srgbClr val="374B69"/>
          </a:solidFill>
          <a:ln>
            <a:solidFill>
              <a:srgbClr val="50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8528" y="3803904"/>
            <a:ext cx="3474720" cy="274320"/>
          </a:xfrm>
          <a:prstGeom prst="rect">
            <a:avLst/>
          </a:prstGeom>
          <a:noFill/>
        </p:spPr>
        <p:txBody>
          <a:bodyPr wrap="none">
            <a:spAutoFit/>
          </a:bodyPr>
          <a:lstStyle/>
          <a:p>
            <a:pPr>
              <a:defRPr sz="1200">
                <a:solidFill>
                  <a:srgbClr val="FFFFFF"/>
                </a:solidFill>
              </a:defRPr>
            </a:pPr>
            <a:r>
              <a:rPr/>
              <a:t>… contact the guard vessel before passage.</a:t>
            </a:r>
          </a:p>
        </p:txBody>
      </p:sp>
      <p:sp>
        <p:nvSpPr>
          <p:cNvPr id="9" name="TextBox 8"/>
          <p:cNvSpPr txBox="1"/>
          <p:nvPr/>
        </p:nvSpPr>
        <p:spPr>
          <a:xfrm>
            <a:off x="731520" y="1051560"/>
            <a:ext cx="10698480" cy="1371600"/>
          </a:xfrm>
          <a:prstGeom prst="rect">
            <a:avLst/>
          </a:prstGeom>
          <a:noFill/>
        </p:spPr>
        <p:txBody>
          <a:bodyPr wrap="none">
            <a:spAutoFit/>
          </a:bodyPr>
          <a:lstStyle/>
          <a:p>
            <a:pPr>
              <a:defRPr sz="3600" b="1">
                <a:solidFill>
                  <a:srgbClr val="FFFFFF"/>
                </a:solidFill>
              </a:defRPr>
            </a:pPr>
            <a:r>
              <a:rPr/>
              <a:t>From Fragments to Auditable Messages</a:t>
            </a:r>
          </a:p>
          <a:p>
            <a:pPr>
              <a:defRPr sz="2000">
                <a:solidFill>
                  <a:srgbClr val="C3D7F5"/>
                </a:solidFill>
              </a:defRPr>
            </a:pPr>
            <a:r>
              <a:rPr/>
              <a:t>LLM Text Reconstruction: Synthetic Data, Prompt Optimization, Open-Model Evaluation, and On-Premises Deployment</a:t>
            </a:r>
          </a:p>
        </p:txBody>
      </p:sp>
      <p:sp>
        <p:nvSpPr>
          <p:cNvPr id="10" name="TextBox 9"/>
          <p:cNvSpPr txBox="1"/>
          <p:nvPr/>
        </p:nvSpPr>
        <p:spPr>
          <a:xfrm>
            <a:off x="749808" y="2880360"/>
            <a:ext cx="9601200" cy="640080"/>
          </a:xfrm>
          <a:prstGeom prst="rect">
            <a:avLst/>
          </a:prstGeom>
          <a:noFill/>
        </p:spPr>
        <p:txBody>
          <a:bodyPr wrap="none">
            <a:spAutoFit/>
          </a:bodyPr>
          <a:lstStyle/>
          <a:p>
            <a:pPr>
              <a:defRPr sz="1300">
                <a:solidFill>
                  <a:srgbClr val="B4C3DC"/>
                </a:solidFill>
              </a:defRPr>
            </a:pPr>
            <a:r>
              <a:rPr/>
              <a:t>ChatGPT → Synthetic Dataset &amp; Prompt Engineering  |  Qwen3.6 → Local Evaluation  |  Kimi K3 → Hugging Face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1. The Task Is Reconstruction, Not Summarization</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Fragment reconstruction requires provenance, ordering, and uncertainty handling.</a:t>
            </a:r>
          </a:p>
        </p:txBody>
      </p:sp>
      <p:sp>
        <p:nvSpPr>
          <p:cNvPr id="5" name="Rounded Rectangle 4"/>
          <p:cNvSpPr/>
          <p:nvPr/>
        </p:nvSpPr>
        <p:spPr>
          <a:xfrm>
            <a:off x="640080" y="1463040"/>
            <a:ext cx="3383280" cy="42062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73152" cy="420624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2971800" cy="411480"/>
          </a:xfrm>
          <a:prstGeom prst="rect">
            <a:avLst/>
          </a:prstGeom>
          <a:noFill/>
        </p:spPr>
        <p:txBody>
          <a:bodyPr wrap="none">
            <a:spAutoFit/>
          </a:bodyPr>
          <a:lstStyle/>
          <a:p>
            <a:pPr>
              <a:defRPr b="1" sz="1600">
                <a:solidFill>
                  <a:srgbClr val="142037"/>
                </a:solidFill>
              </a:defRPr>
            </a:pPr>
            <a:r>
              <a:rPr/>
              <a:t>Input: Fragmented and Mixed</a:t>
            </a:r>
          </a:p>
        </p:txBody>
      </p:sp>
      <p:sp>
        <p:nvSpPr>
          <p:cNvPr id="8" name="TextBox 7"/>
          <p:cNvSpPr txBox="1"/>
          <p:nvPr/>
        </p:nvSpPr>
        <p:spPr>
          <a:xfrm>
            <a:off x="868680" y="2176272"/>
            <a:ext cx="2971800" cy="3355848"/>
          </a:xfrm>
          <a:prstGeom prst="rect">
            <a:avLst/>
          </a:prstGeom>
          <a:noFill/>
        </p:spPr>
        <p:txBody>
          <a:bodyPr wrap="square">
            <a:spAutoFit/>
          </a:bodyPr>
          <a:lstStyle/>
          <a:p>
            <a:pPr>
              <a:defRPr sz="1200">
                <a:solidFill>
                  <a:srgbClr val="5F6978"/>
                </a:solidFill>
              </a:defRPr>
            </a:pPr>
            <a:r>
              <a:rPr/>
              <a:t>A single message may be split into multiple fragments. Different messages may arrive close together, with transmission noise, missing segments, or repeated broadcasts.</a:t>
            </a:r>
          </a:p>
        </p:txBody>
      </p:sp>
      <p:sp>
        <p:nvSpPr>
          <p:cNvPr id="9" name="Rounded Rectangle 8"/>
          <p:cNvSpPr/>
          <p:nvPr/>
        </p:nvSpPr>
        <p:spPr>
          <a:xfrm>
            <a:off x="4389120" y="1463040"/>
            <a:ext cx="3383280" cy="42062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463040"/>
            <a:ext cx="73152" cy="420624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45920"/>
            <a:ext cx="2971800" cy="411480"/>
          </a:xfrm>
          <a:prstGeom prst="rect">
            <a:avLst/>
          </a:prstGeom>
          <a:noFill/>
        </p:spPr>
        <p:txBody>
          <a:bodyPr wrap="none">
            <a:spAutoFit/>
          </a:bodyPr>
          <a:lstStyle/>
          <a:p>
            <a:pPr>
              <a:defRPr b="1" sz="1600">
                <a:solidFill>
                  <a:srgbClr val="142037"/>
                </a:solidFill>
              </a:defRPr>
            </a:pPr>
            <a:r>
              <a:rPr/>
              <a:t>Core Task: Safe Assembly</a:t>
            </a:r>
          </a:p>
        </p:txBody>
      </p:sp>
      <p:sp>
        <p:nvSpPr>
          <p:cNvPr id="12" name="TextBox 11"/>
          <p:cNvSpPr txBox="1"/>
          <p:nvPr/>
        </p:nvSpPr>
        <p:spPr>
          <a:xfrm>
            <a:off x="4617720" y="2176272"/>
            <a:ext cx="2971800" cy="3355848"/>
          </a:xfrm>
          <a:prstGeom prst="rect">
            <a:avLst/>
          </a:prstGeom>
          <a:noFill/>
        </p:spPr>
        <p:txBody>
          <a:bodyPr wrap="square">
            <a:spAutoFit/>
          </a:bodyPr>
          <a:lstStyle/>
          <a:p>
            <a:pPr>
              <a:defRPr sz="1200">
                <a:solidFill>
                  <a:srgbClr val="5F6978"/>
                </a:solidFill>
              </a:defRPr>
            </a:pPr>
            <a:r>
              <a:rPr/>
              <a:t>Determine which RawIDs belong to the same occurrence, recover the correct order, preserve the source text, and never merge across events merely because the result sounds plausible.</a:t>
            </a:r>
          </a:p>
        </p:txBody>
      </p:sp>
      <p:sp>
        <p:nvSpPr>
          <p:cNvPr id="13" name="Rounded Rectangle 12"/>
          <p:cNvSpPr/>
          <p:nvPr/>
        </p:nvSpPr>
        <p:spPr>
          <a:xfrm>
            <a:off x="8138160" y="1463040"/>
            <a:ext cx="3383280" cy="42062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463040"/>
            <a:ext cx="73152" cy="42062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645920"/>
            <a:ext cx="2971800" cy="411480"/>
          </a:xfrm>
          <a:prstGeom prst="rect">
            <a:avLst/>
          </a:prstGeom>
          <a:noFill/>
        </p:spPr>
        <p:txBody>
          <a:bodyPr wrap="none">
            <a:spAutoFit/>
          </a:bodyPr>
          <a:lstStyle/>
          <a:p>
            <a:pPr>
              <a:defRPr b="1" sz="1600">
                <a:solidFill>
                  <a:srgbClr val="142037"/>
                </a:solidFill>
              </a:defRPr>
            </a:pPr>
            <a:r>
              <a:rPr/>
              <a:t>Output: Auditable Results</a:t>
            </a:r>
          </a:p>
        </p:txBody>
      </p:sp>
      <p:sp>
        <p:nvSpPr>
          <p:cNvPr id="16" name="TextBox 15"/>
          <p:cNvSpPr txBox="1"/>
          <p:nvPr/>
        </p:nvSpPr>
        <p:spPr>
          <a:xfrm>
            <a:off x="8366760" y="2176272"/>
            <a:ext cx="2971800" cy="3355848"/>
          </a:xfrm>
          <a:prstGeom prst="rect">
            <a:avLst/>
          </a:prstGeom>
          <a:noFill/>
        </p:spPr>
        <p:txBody>
          <a:bodyPr wrap="square">
            <a:spAutoFit/>
          </a:bodyPr>
          <a:lstStyle/>
          <a:p>
            <a:pPr>
              <a:defRPr sz="1200">
                <a:solidFill>
                  <a:srgbClr val="5F6978"/>
                </a:solidFill>
              </a:defRPr>
            </a:pPr>
            <a:r>
              <a:rPr/>
              <a:t>Beyond RecoveredContent, the system needs EvidenceGroups, a RawID ledger, unresolved cases, traceability, confidence scores, and a review gate.</a:t>
            </a:r>
          </a:p>
        </p:txBody>
      </p:sp>
      <p:sp>
        <p:nvSpPr>
          <p:cNvPr id="17" name="TextBox 16"/>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2. Methodology: ChatGPT as a Research Accelerator, Not the Final Judge</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A human-in-the-loop experimental loop for prompt and model evaluation.</a:t>
            </a:r>
          </a:p>
        </p:txBody>
      </p:sp>
      <p:sp>
        <p:nvSpPr>
          <p:cNvPr id="5" name="Oval 4"/>
          <p:cNvSpPr/>
          <p:nvPr/>
        </p:nvSpPr>
        <p:spPr>
          <a:xfrm>
            <a:off x="1005840" y="1874519"/>
            <a:ext cx="658368" cy="658368"/>
          </a:xfrm>
          <a:prstGeom prst="ellipse">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 y="2029968"/>
            <a:ext cx="411480" cy="228600"/>
          </a:xfrm>
          <a:prstGeom prst="rect">
            <a:avLst/>
          </a:prstGeom>
          <a:noFill/>
        </p:spPr>
        <p:txBody>
          <a:bodyPr wrap="none">
            <a:spAutoFit/>
          </a:bodyPr>
          <a:lstStyle/>
          <a:p>
            <a:pPr algn="ctr">
              <a:defRPr sz="1200" b="1">
                <a:solidFill>
                  <a:srgbClr val="FFFFFF"/>
                </a:solidFill>
              </a:defRPr>
            </a:pPr>
            <a:r>
              <a:rPr/>
              <a:t>1</a:t>
            </a:r>
          </a:p>
        </p:txBody>
      </p:sp>
      <p:sp>
        <p:nvSpPr>
          <p:cNvPr id="7" name="TextBox 6"/>
          <p:cNvSpPr txBox="1"/>
          <p:nvPr/>
        </p:nvSpPr>
        <p:spPr>
          <a:xfrm>
            <a:off x="502920" y="2743200"/>
            <a:ext cx="1645920" cy="960120"/>
          </a:xfrm>
          <a:prstGeom prst="rect">
            <a:avLst/>
          </a:prstGeom>
          <a:noFill/>
        </p:spPr>
        <p:txBody>
          <a:bodyPr wrap="none">
            <a:spAutoFit/>
          </a:bodyPr>
          <a:lstStyle/>
          <a:p>
            <a:pPr algn="ctr">
              <a:defRPr sz="1500" b="1">
                <a:solidFill>
                  <a:srgbClr val="142037"/>
                </a:solidFill>
              </a:defRPr>
            </a:pPr>
            <a:r>
              <a:rPr/>
              <a:t>ChatGPT 產製</a:t>
            </a:r>
            <a:br/>
            <a:r>
              <a:rPr/>
              <a:t>模擬資料集</a:t>
            </a:r>
          </a:p>
        </p:txBody>
      </p:sp>
      <p:sp>
        <p:nvSpPr>
          <p:cNvPr id="8" name="Right Arrow 7"/>
          <p:cNvSpPr/>
          <p:nvPr/>
        </p:nvSpPr>
        <p:spPr>
          <a:xfrm>
            <a:off x="1993391" y="2057400"/>
            <a:ext cx="594360" cy="274320"/>
          </a:xfrm>
          <a:prstGeom prst="rightArrow">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907791" y="1874519"/>
            <a:ext cx="658368" cy="658368"/>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29968"/>
            <a:ext cx="411480" cy="228600"/>
          </a:xfrm>
          <a:prstGeom prst="rect">
            <a:avLst/>
          </a:prstGeom>
          <a:noFill/>
        </p:spPr>
        <p:txBody>
          <a:bodyPr wrap="none">
            <a:spAutoFit/>
          </a:bodyPr>
          <a:lstStyle/>
          <a:p>
            <a:pPr algn="ctr">
              <a:defRPr sz="1200" b="1">
                <a:solidFill>
                  <a:srgbClr val="FFFFFF"/>
                </a:solidFill>
              </a:defRPr>
            </a:pPr>
            <a:r>
              <a:rPr/>
              <a:t>2</a:t>
            </a:r>
          </a:p>
        </p:txBody>
      </p:sp>
      <p:sp>
        <p:nvSpPr>
          <p:cNvPr id="11" name="TextBox 10"/>
          <p:cNvSpPr txBox="1"/>
          <p:nvPr/>
        </p:nvSpPr>
        <p:spPr>
          <a:xfrm>
            <a:off x="2404872" y="2743200"/>
            <a:ext cx="1645920" cy="960120"/>
          </a:xfrm>
          <a:prstGeom prst="rect">
            <a:avLst/>
          </a:prstGeom>
          <a:noFill/>
        </p:spPr>
        <p:txBody>
          <a:bodyPr wrap="none">
            <a:spAutoFit/>
          </a:bodyPr>
          <a:lstStyle/>
          <a:p>
            <a:pPr algn="ctr">
              <a:defRPr sz="1500" b="1">
                <a:solidFill>
                  <a:srgbClr val="142037"/>
                </a:solidFill>
              </a:defRPr>
            </a:pPr>
            <a:r>
              <a:rPr/>
              <a:t>建立人工基準</a:t>
            </a:r>
            <a:br/>
            <a:r>
              <a:rPr/>
              <a:t>與硬規則</a:t>
            </a:r>
          </a:p>
        </p:txBody>
      </p:sp>
      <p:sp>
        <p:nvSpPr>
          <p:cNvPr id="12" name="Right Arrow 11"/>
          <p:cNvSpPr/>
          <p:nvPr/>
        </p:nvSpPr>
        <p:spPr>
          <a:xfrm>
            <a:off x="3895344" y="2057400"/>
            <a:ext cx="594360" cy="274320"/>
          </a:xfrm>
          <a:prstGeom prst="rightArrow">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09744" y="1874519"/>
            <a:ext cx="658368" cy="658368"/>
          </a:xfrm>
          <a:prstGeom prst="ellipse">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28616" y="2029968"/>
            <a:ext cx="411480" cy="228600"/>
          </a:xfrm>
          <a:prstGeom prst="rect">
            <a:avLst/>
          </a:prstGeom>
          <a:noFill/>
        </p:spPr>
        <p:txBody>
          <a:bodyPr wrap="none">
            <a:spAutoFit/>
          </a:bodyPr>
          <a:lstStyle/>
          <a:p>
            <a:pPr algn="ctr">
              <a:defRPr sz="1200" b="1">
                <a:solidFill>
                  <a:srgbClr val="FFFFFF"/>
                </a:solidFill>
              </a:defRPr>
            </a:pPr>
            <a:r>
              <a:rPr/>
              <a:t>3</a:t>
            </a:r>
          </a:p>
        </p:txBody>
      </p:sp>
      <p:sp>
        <p:nvSpPr>
          <p:cNvPr id="15" name="TextBox 14"/>
          <p:cNvSpPr txBox="1"/>
          <p:nvPr/>
        </p:nvSpPr>
        <p:spPr>
          <a:xfrm>
            <a:off x="4306824" y="2743200"/>
            <a:ext cx="1645920" cy="960120"/>
          </a:xfrm>
          <a:prstGeom prst="rect">
            <a:avLst/>
          </a:prstGeom>
          <a:noFill/>
        </p:spPr>
        <p:txBody>
          <a:bodyPr wrap="none">
            <a:spAutoFit/>
          </a:bodyPr>
          <a:lstStyle/>
          <a:p>
            <a:pPr algn="ctr">
              <a:defRPr sz="1500" b="1">
                <a:solidFill>
                  <a:srgbClr val="142037"/>
                </a:solidFill>
              </a:defRPr>
            </a:pPr>
            <a:r>
              <a:rPr/>
              <a:t>開源模型</a:t>
            </a:r>
            <a:br/>
            <a:r>
              <a:rPr/>
              <a:t>盲測重建</a:t>
            </a:r>
          </a:p>
        </p:txBody>
      </p:sp>
      <p:sp>
        <p:nvSpPr>
          <p:cNvPr id="16" name="Right Arrow 15"/>
          <p:cNvSpPr/>
          <p:nvPr/>
        </p:nvSpPr>
        <p:spPr>
          <a:xfrm>
            <a:off x="5797296" y="2057400"/>
            <a:ext cx="594360" cy="274320"/>
          </a:xfrm>
          <a:prstGeom prst="rightArrow">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1696" y="1874519"/>
            <a:ext cx="658368" cy="658368"/>
          </a:xfrm>
          <a:prstGeom prst="ellipse">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2029968"/>
            <a:ext cx="411480" cy="228600"/>
          </a:xfrm>
          <a:prstGeom prst="rect">
            <a:avLst/>
          </a:prstGeom>
          <a:noFill/>
        </p:spPr>
        <p:txBody>
          <a:bodyPr wrap="none">
            <a:spAutoFit/>
          </a:bodyPr>
          <a:lstStyle/>
          <a:p>
            <a:pPr algn="ctr">
              <a:defRPr sz="1200" b="1">
                <a:solidFill>
                  <a:srgbClr val="FFFFFF"/>
                </a:solidFill>
              </a:defRPr>
            </a:pPr>
            <a:r>
              <a:rPr/>
              <a:t>4</a:t>
            </a:r>
          </a:p>
        </p:txBody>
      </p:sp>
      <p:sp>
        <p:nvSpPr>
          <p:cNvPr id="19" name="TextBox 18"/>
          <p:cNvSpPr txBox="1"/>
          <p:nvPr/>
        </p:nvSpPr>
        <p:spPr>
          <a:xfrm>
            <a:off x="6208776" y="2743200"/>
            <a:ext cx="1645920" cy="960120"/>
          </a:xfrm>
          <a:prstGeom prst="rect">
            <a:avLst/>
          </a:prstGeom>
          <a:noFill/>
        </p:spPr>
        <p:txBody>
          <a:bodyPr wrap="none">
            <a:spAutoFit/>
          </a:bodyPr>
          <a:lstStyle/>
          <a:p>
            <a:pPr algn="ctr">
              <a:defRPr sz="1500" b="1">
                <a:solidFill>
                  <a:srgbClr val="142037"/>
                </a:solidFill>
              </a:defRPr>
            </a:pPr>
            <a:r>
              <a:rPr/>
              <a:t>ChatGPT 協助</a:t>
            </a:r>
            <a:br/>
            <a:r>
              <a:rPr/>
              <a:t>錯誤分析</a:t>
            </a:r>
          </a:p>
        </p:txBody>
      </p:sp>
      <p:sp>
        <p:nvSpPr>
          <p:cNvPr id="20" name="Right Arrow 19"/>
          <p:cNvSpPr/>
          <p:nvPr/>
        </p:nvSpPr>
        <p:spPr>
          <a:xfrm>
            <a:off x="7699248" y="2057400"/>
            <a:ext cx="594360" cy="274320"/>
          </a:xfrm>
          <a:prstGeom prst="rightArrow">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13648" y="1874519"/>
            <a:ext cx="658368" cy="658368"/>
          </a:xfrm>
          <a:prstGeom prst="ellipse">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32520" y="2029968"/>
            <a:ext cx="411480" cy="228600"/>
          </a:xfrm>
          <a:prstGeom prst="rect">
            <a:avLst/>
          </a:prstGeom>
          <a:noFill/>
        </p:spPr>
        <p:txBody>
          <a:bodyPr wrap="none">
            <a:spAutoFit/>
          </a:bodyPr>
          <a:lstStyle/>
          <a:p>
            <a:pPr algn="ctr">
              <a:defRPr sz="1200" b="1">
                <a:solidFill>
                  <a:srgbClr val="FFFFFF"/>
                </a:solidFill>
              </a:defRPr>
            </a:pPr>
            <a:r>
              <a:rPr/>
              <a:t>5</a:t>
            </a:r>
          </a:p>
        </p:txBody>
      </p:sp>
      <p:sp>
        <p:nvSpPr>
          <p:cNvPr id="23" name="TextBox 22"/>
          <p:cNvSpPr txBox="1"/>
          <p:nvPr/>
        </p:nvSpPr>
        <p:spPr>
          <a:xfrm>
            <a:off x="8110728" y="2743200"/>
            <a:ext cx="1645920" cy="960120"/>
          </a:xfrm>
          <a:prstGeom prst="rect">
            <a:avLst/>
          </a:prstGeom>
          <a:noFill/>
        </p:spPr>
        <p:txBody>
          <a:bodyPr wrap="none">
            <a:spAutoFit/>
          </a:bodyPr>
          <a:lstStyle/>
          <a:p>
            <a:pPr algn="ctr">
              <a:defRPr sz="1500" b="1">
                <a:solidFill>
                  <a:srgbClr val="142037"/>
                </a:solidFill>
              </a:defRPr>
            </a:pPr>
            <a:r>
              <a:rPr/>
              <a:t>逐步調優</a:t>
            </a:r>
            <a:br/>
            <a:r>
              <a:rPr/>
              <a:t>Prompt / Schema</a:t>
            </a:r>
          </a:p>
        </p:txBody>
      </p:sp>
      <p:sp>
        <p:nvSpPr>
          <p:cNvPr id="24" name="Right Arrow 23"/>
          <p:cNvSpPr/>
          <p:nvPr/>
        </p:nvSpPr>
        <p:spPr>
          <a:xfrm>
            <a:off x="9601200" y="2057400"/>
            <a:ext cx="594360" cy="274320"/>
          </a:xfrm>
          <a:prstGeom prst="rightArrow">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515600" y="1874519"/>
            <a:ext cx="658368" cy="65836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34472" y="2029968"/>
            <a:ext cx="411480" cy="228600"/>
          </a:xfrm>
          <a:prstGeom prst="rect">
            <a:avLst/>
          </a:prstGeom>
          <a:noFill/>
        </p:spPr>
        <p:txBody>
          <a:bodyPr wrap="none">
            <a:spAutoFit/>
          </a:bodyPr>
          <a:lstStyle/>
          <a:p>
            <a:pPr algn="ctr">
              <a:defRPr sz="1200" b="1">
                <a:solidFill>
                  <a:srgbClr val="FFFFFF"/>
                </a:solidFill>
              </a:defRPr>
            </a:pPr>
            <a:r>
              <a:rPr/>
              <a:t>6</a:t>
            </a:r>
          </a:p>
        </p:txBody>
      </p:sp>
      <p:sp>
        <p:nvSpPr>
          <p:cNvPr id="27" name="TextBox 26"/>
          <p:cNvSpPr txBox="1"/>
          <p:nvPr/>
        </p:nvSpPr>
        <p:spPr>
          <a:xfrm>
            <a:off x="10012680" y="2743200"/>
            <a:ext cx="1645920" cy="960120"/>
          </a:xfrm>
          <a:prstGeom prst="rect">
            <a:avLst/>
          </a:prstGeom>
          <a:noFill/>
        </p:spPr>
        <p:txBody>
          <a:bodyPr wrap="none">
            <a:spAutoFit/>
          </a:bodyPr>
          <a:lstStyle/>
          <a:p>
            <a:pPr algn="ctr">
              <a:defRPr sz="1500" b="1">
                <a:solidFill>
                  <a:srgbClr val="142037"/>
                </a:solidFill>
              </a:defRPr>
            </a:pPr>
            <a:r>
              <a:rPr/>
              <a:t>固定測試集</a:t>
            </a:r>
            <a:br/>
            <a:r>
              <a:rPr/>
              <a:t>重新驗證</a:t>
            </a:r>
          </a:p>
        </p:txBody>
      </p:sp>
      <p:sp>
        <p:nvSpPr>
          <p:cNvPr id="28" name="TextBox 27"/>
          <p:cNvSpPr txBox="1"/>
          <p:nvPr/>
        </p:nvSpPr>
        <p:spPr>
          <a:xfrm>
            <a:off x="914400" y="4617720"/>
            <a:ext cx="10332720" cy="1188720"/>
          </a:xfrm>
          <a:prstGeom prst="rect">
            <a:avLst/>
          </a:prstGeom>
          <a:noFill/>
        </p:spPr>
        <p:txBody>
          <a:bodyPr wrap="square">
            <a:spAutoFit/>
          </a:bodyPr>
          <a:lstStyle/>
          <a:p>
            <a:pPr>
              <a:spcAft>
                <a:spcPts val="1000"/>
              </a:spcAft>
              <a:defRPr sz="1600">
                <a:solidFill>
                  <a:srgbClr val="1E242E"/>
                </a:solidFill>
              </a:defRPr>
            </a:pPr>
            <a:r>
              <a:rPr/>
              <a:t>Key principle: compare models only after the test data and scoring rules are frozen.</a:t>
            </a:r>
          </a:p>
          <a:p>
            <a:pPr>
              <a:spcAft>
                <a:spcPts val="1000"/>
              </a:spcAft>
              <a:defRPr sz="1600">
                <a:solidFill>
                  <a:srgbClr val="1E242E"/>
                </a:solidFill>
              </a:defRPr>
            </a:pPr>
            <a:r>
              <a:rPr/>
              <a:t>Prompt optimization should reduce repeatable failure modes, not merely make individual examples look correct.</a:t>
            </a:r>
          </a:p>
        </p:txBody>
      </p:sp>
      <p:sp>
        <p:nvSpPr>
          <p:cNvPr id="29" name="TextBox 28"/>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3. Generating a Synthetic Dataset with ChatGPT</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Synthetic data makes rare failure cases controllable and repeatable.</a:t>
            </a:r>
          </a:p>
        </p:txBody>
      </p:sp>
      <p:sp>
        <p:nvSpPr>
          <p:cNvPr id="5" name="Rounded Rectangle 4"/>
          <p:cNvSpPr/>
          <p:nvPr/>
        </p:nvSpPr>
        <p:spPr>
          <a:xfrm>
            <a:off x="594360" y="1417320"/>
            <a:ext cx="2743200" cy="1828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17320"/>
            <a:ext cx="73152" cy="182880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2331720" cy="411480"/>
          </a:xfrm>
          <a:prstGeom prst="rect">
            <a:avLst/>
          </a:prstGeom>
          <a:noFill/>
        </p:spPr>
        <p:txBody>
          <a:bodyPr wrap="none">
            <a:spAutoFit/>
          </a:bodyPr>
          <a:lstStyle/>
          <a:p>
            <a:pPr>
              <a:defRPr b="1" sz="1600">
                <a:solidFill>
                  <a:srgbClr val="142037"/>
                </a:solidFill>
              </a:defRPr>
            </a:pPr>
            <a:r>
              <a:rPr/>
              <a:t>Complete Messages</a:t>
            </a:r>
          </a:p>
        </p:txBody>
      </p:sp>
      <p:sp>
        <p:nvSpPr>
          <p:cNvPr id="8" name="TextBox 7"/>
          <p:cNvSpPr txBox="1"/>
          <p:nvPr/>
        </p:nvSpPr>
        <p:spPr>
          <a:xfrm>
            <a:off x="822960" y="2130552"/>
            <a:ext cx="2331720" cy="978408"/>
          </a:xfrm>
          <a:prstGeom prst="rect">
            <a:avLst/>
          </a:prstGeom>
          <a:noFill/>
        </p:spPr>
        <p:txBody>
          <a:bodyPr wrap="square">
            <a:spAutoFit/>
          </a:bodyPr>
          <a:lstStyle/>
          <a:p>
            <a:pPr>
              <a:defRPr sz="1200">
                <a:solidFill>
                  <a:srgbClr val="5F6978"/>
                </a:solidFill>
              </a:defRPr>
            </a:pPr>
            <a:r>
              <a:rPr/>
              <a:t>Generate complete notifications with clear event anchors, such as cable work, vessel control, military exercises, or marine warnings.</a:t>
            </a:r>
          </a:p>
        </p:txBody>
      </p:sp>
      <p:sp>
        <p:nvSpPr>
          <p:cNvPr id="9" name="Rounded Rectangle 8"/>
          <p:cNvSpPr/>
          <p:nvPr/>
        </p:nvSpPr>
        <p:spPr>
          <a:xfrm>
            <a:off x="594360" y="3520440"/>
            <a:ext cx="2743200" cy="1828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3520440"/>
            <a:ext cx="73152" cy="182880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703320"/>
            <a:ext cx="2331720" cy="411480"/>
          </a:xfrm>
          <a:prstGeom prst="rect">
            <a:avLst/>
          </a:prstGeom>
          <a:noFill/>
        </p:spPr>
        <p:txBody>
          <a:bodyPr wrap="none">
            <a:spAutoFit/>
          </a:bodyPr>
          <a:lstStyle/>
          <a:p>
            <a:pPr>
              <a:defRPr b="1" sz="1600">
                <a:solidFill>
                  <a:srgbClr val="142037"/>
                </a:solidFill>
              </a:defRPr>
            </a:pPr>
            <a:r>
              <a:rPr/>
              <a:t>Fragmentation and Perturbation</a:t>
            </a:r>
          </a:p>
        </p:txBody>
      </p:sp>
      <p:sp>
        <p:nvSpPr>
          <p:cNvPr id="12" name="TextBox 11"/>
          <p:cNvSpPr txBox="1"/>
          <p:nvPr/>
        </p:nvSpPr>
        <p:spPr>
          <a:xfrm>
            <a:off x="822960" y="4233672"/>
            <a:ext cx="2331720" cy="978408"/>
          </a:xfrm>
          <a:prstGeom prst="rect">
            <a:avLst/>
          </a:prstGeom>
          <a:noFill/>
        </p:spPr>
        <p:txBody>
          <a:bodyPr wrap="square">
            <a:spAutoFit/>
          </a:bodyPr>
          <a:lstStyle/>
          <a:p>
            <a:pPr>
              <a:defRPr sz="1200">
                <a:solidFill>
                  <a:srgbClr val="5F6978"/>
                </a:solidFill>
              </a:defRPr>
            </a:pPr>
            <a:r>
              <a:rPr/>
              <a:t>Split each message into two to four fragments and introduce time gaps, different recipients, repeated broadcasts, noise, and missing segments.</a:t>
            </a:r>
          </a:p>
        </p:txBody>
      </p:sp>
      <p:sp>
        <p:nvSpPr>
          <p:cNvPr id="13" name="Rounded Rectangle 12"/>
          <p:cNvSpPr/>
          <p:nvPr/>
        </p:nvSpPr>
        <p:spPr>
          <a:xfrm>
            <a:off x="3703320" y="1417320"/>
            <a:ext cx="2743200" cy="1828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0" y="1417320"/>
            <a:ext cx="73152" cy="182880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31920" y="1600200"/>
            <a:ext cx="2331720" cy="411480"/>
          </a:xfrm>
          <a:prstGeom prst="rect">
            <a:avLst/>
          </a:prstGeom>
          <a:noFill/>
        </p:spPr>
        <p:txBody>
          <a:bodyPr wrap="none">
            <a:spAutoFit/>
          </a:bodyPr>
          <a:lstStyle/>
          <a:p>
            <a:pPr>
              <a:defRPr b="1" sz="1600">
                <a:solidFill>
                  <a:srgbClr val="142037"/>
                </a:solidFill>
              </a:defRPr>
            </a:pPr>
            <a:r>
              <a:rPr/>
              <a:t>Negative Samples</a:t>
            </a:r>
          </a:p>
        </p:txBody>
      </p:sp>
      <p:sp>
        <p:nvSpPr>
          <p:cNvPr id="16" name="TextBox 15"/>
          <p:cNvSpPr txBox="1"/>
          <p:nvPr/>
        </p:nvSpPr>
        <p:spPr>
          <a:xfrm>
            <a:off x="3931920" y="2130552"/>
            <a:ext cx="2331720" cy="978408"/>
          </a:xfrm>
          <a:prstGeom prst="rect">
            <a:avLst/>
          </a:prstGeom>
          <a:noFill/>
        </p:spPr>
        <p:txBody>
          <a:bodyPr wrap="square">
            <a:spAutoFit/>
          </a:bodyPr>
          <a:lstStyle/>
          <a:p>
            <a:pPr>
              <a:defRPr sz="1200">
                <a:solidFill>
                  <a:srgbClr val="5F6978"/>
                </a:solidFill>
              </a:defRPr>
            </a:pPr>
            <a:r>
              <a:rPr/>
              <a:t>Add 60 unrelated fragments to test whether semantic similarity causes false merges.</a:t>
            </a:r>
          </a:p>
        </p:txBody>
      </p:sp>
      <p:sp>
        <p:nvSpPr>
          <p:cNvPr id="17" name="Rounded Rectangle 16"/>
          <p:cNvSpPr/>
          <p:nvPr/>
        </p:nvSpPr>
        <p:spPr>
          <a:xfrm>
            <a:off x="3703320" y="3520440"/>
            <a:ext cx="2743200" cy="1828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03320" y="3520440"/>
            <a:ext cx="73152" cy="18288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3703320"/>
            <a:ext cx="2331720" cy="411480"/>
          </a:xfrm>
          <a:prstGeom prst="rect">
            <a:avLst/>
          </a:prstGeom>
          <a:noFill/>
        </p:spPr>
        <p:txBody>
          <a:bodyPr wrap="none">
            <a:spAutoFit/>
          </a:bodyPr>
          <a:lstStyle/>
          <a:p>
            <a:pPr>
              <a:defRPr b="1" sz="1600">
                <a:solidFill>
                  <a:srgbClr val="142037"/>
                </a:solidFill>
              </a:defRPr>
            </a:pPr>
            <a:r>
              <a:rPr/>
              <a:t>Gold Standard</a:t>
            </a:r>
          </a:p>
        </p:txBody>
      </p:sp>
      <p:sp>
        <p:nvSpPr>
          <p:cNvPr id="20" name="TextBox 19"/>
          <p:cNvSpPr txBox="1"/>
          <p:nvPr/>
        </p:nvSpPr>
        <p:spPr>
          <a:xfrm>
            <a:off x="3931920" y="4233672"/>
            <a:ext cx="2331720" cy="978408"/>
          </a:xfrm>
          <a:prstGeom prst="rect">
            <a:avLst/>
          </a:prstGeom>
          <a:noFill/>
        </p:spPr>
        <p:txBody>
          <a:bodyPr wrap="square">
            <a:spAutoFit/>
          </a:bodyPr>
          <a:lstStyle/>
          <a:p>
            <a:pPr>
              <a:defRPr sz="1200">
                <a:solidFill>
                  <a:srgbClr val="5F6978"/>
                </a:solidFill>
              </a:defRPr>
            </a:pPr>
            <a:r>
              <a:rPr/>
              <a:t>Human-review complete messages, EvidenceGroups, unresolved groups, and the unique destination of every RawID.</a:t>
            </a:r>
          </a:p>
        </p:txBody>
      </p:sp>
      <p:graphicFrame>
        <p:nvGraphicFramePr>
          <p:cNvPr id="21" name="Chart 20"/>
          <p:cNvGraphicFramePr>
            <a:graphicFrameLocks noGrp="1"/>
          </p:cNvGraphicFramePr>
          <p:nvPr/>
        </p:nvGraphicFramePr>
        <p:xfrm>
          <a:off x="7315200" y="1417320"/>
          <a:ext cx="4023360" cy="3200400"/>
        </p:xfrm>
        <a:graphic>
          <a:graphicData uri="http://schemas.openxmlformats.org/drawingml/2006/chart">
            <c:chart xmlns:c="http://schemas.openxmlformats.org/drawingml/2006/chart" r:id="rId2"/>
          </a:graphicData>
        </a:graphic>
      </p:graphicFrame>
      <p:sp>
        <p:nvSpPr>
          <p:cNvPr id="22" name="TextBox 21"/>
          <p:cNvSpPr txBox="1"/>
          <p:nvPr/>
        </p:nvSpPr>
        <p:spPr>
          <a:xfrm>
            <a:off x="7452360" y="4663440"/>
            <a:ext cx="3657600" cy="1005840"/>
          </a:xfrm>
          <a:prstGeom prst="rect">
            <a:avLst/>
          </a:prstGeom>
          <a:noFill/>
        </p:spPr>
        <p:txBody>
          <a:bodyPr wrap="square">
            <a:spAutoFit/>
          </a:bodyPr>
          <a:lstStyle/>
          <a:p>
            <a:pPr>
              <a:spcAft>
                <a:spcPts val="1000"/>
              </a:spcAft>
              <a:defRPr sz="1400">
                <a:solidFill>
                  <a:srgbClr val="1E242E"/>
                </a:solidFill>
              </a:defRPr>
            </a:pPr>
            <a:r>
              <a:rPr/>
              <a:t>Design principle: complete, incomplete, and distracting cases must coexist.</a:t>
            </a:r>
          </a:p>
          <a:p>
            <a:pPr>
              <a:spcAft>
                <a:spcPts val="1000"/>
              </a:spcAft>
              <a:defRPr sz="1400">
                <a:solidFill>
                  <a:srgbClr val="1E242E"/>
                </a:solidFill>
              </a:defRPr>
            </a:pPr>
            <a:r>
              <a:rPr/>
              <a:t>The model must learn not to force a merge when the evidence is insufficient.</a:t>
            </a:r>
          </a:p>
        </p:txBody>
      </p:sp>
      <p:sp>
        <p:nvSpPr>
          <p:cNvPr id="23" name="TextBox 22"/>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4. Prompt Optimization: From Plausible Text to Verifiable Output</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Prompt engineering was driven by observed errors, not by stylistic preference.</a:t>
            </a:r>
          </a:p>
        </p:txBody>
      </p:sp>
      <p:sp>
        <p:nvSpPr>
          <p:cNvPr id="5" name="Rounded Rectangle 4"/>
          <p:cNvSpPr/>
          <p:nvPr/>
        </p:nvSpPr>
        <p:spPr>
          <a:xfrm>
            <a:off x="640080" y="1417320"/>
            <a:ext cx="1234440" cy="658368"/>
          </a:xfrm>
          <a:prstGeom prst="round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00200"/>
            <a:ext cx="1005840" cy="228600"/>
          </a:xfrm>
          <a:prstGeom prst="rect">
            <a:avLst/>
          </a:prstGeom>
          <a:noFill/>
        </p:spPr>
        <p:txBody>
          <a:bodyPr wrap="none">
            <a:spAutoFit/>
          </a:bodyPr>
          <a:lstStyle/>
          <a:p>
            <a:pPr algn="ctr">
              <a:defRPr b="1" sz="1300">
                <a:solidFill>
                  <a:srgbClr val="FFFFFF"/>
                </a:solidFill>
              </a:defRPr>
            </a:pPr>
            <a:r>
              <a:rPr/>
              <a:t>V1 Semantic Assembly</a:t>
            </a:r>
          </a:p>
        </p:txBody>
      </p:sp>
      <p:sp>
        <p:nvSpPr>
          <p:cNvPr id="7" name="TextBox 6"/>
          <p:cNvSpPr txBox="1"/>
          <p:nvPr/>
        </p:nvSpPr>
        <p:spPr>
          <a:xfrm>
            <a:off x="2057400" y="1444752"/>
            <a:ext cx="3840480" cy="594360"/>
          </a:xfrm>
          <a:prstGeom prst="rect">
            <a:avLst/>
          </a:prstGeom>
          <a:noFill/>
        </p:spPr>
        <p:txBody>
          <a:bodyPr wrap="none">
            <a:spAutoFit/>
          </a:bodyPr>
          <a:lstStyle/>
          <a:p>
            <a:pPr>
              <a:defRPr sz="1500" b="1">
                <a:solidFill>
                  <a:srgbClr val="142037"/>
                </a:solidFill>
              </a:defRPr>
            </a:pPr>
            <a:r>
              <a:rPr/>
              <a:t>Ask only for semantically continuous fragments</a:t>
            </a:r>
          </a:p>
        </p:txBody>
      </p:sp>
      <p:sp>
        <p:nvSpPr>
          <p:cNvPr id="8" name="TextBox 7"/>
          <p:cNvSpPr txBox="1"/>
          <p:nvPr/>
        </p:nvSpPr>
        <p:spPr>
          <a:xfrm>
            <a:off x="6080760" y="1444752"/>
            <a:ext cx="5212080" cy="594360"/>
          </a:xfrm>
          <a:prstGeom prst="rect">
            <a:avLst/>
          </a:prstGeom>
          <a:noFill/>
        </p:spPr>
        <p:txBody>
          <a:bodyPr wrap="none">
            <a:spAutoFit/>
          </a:bodyPr>
          <a:lstStyle/>
          <a:p>
            <a:pPr>
              <a:defRPr sz="1400">
                <a:solidFill>
                  <a:srgbClr val="5F6978"/>
                </a:solidFill>
              </a:defRPr>
            </a:pPr>
            <a:r>
              <a:rPr/>
              <a:t>May delete repetition or invent missing words for fluency</a:t>
            </a:r>
          </a:p>
        </p:txBody>
      </p:sp>
      <p:sp>
        <p:nvSpPr>
          <p:cNvPr id="9" name="Rounded Rectangle 8"/>
          <p:cNvSpPr/>
          <p:nvPr/>
        </p:nvSpPr>
        <p:spPr>
          <a:xfrm>
            <a:off x="640080" y="2377440"/>
            <a:ext cx="1234440" cy="65836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560320"/>
            <a:ext cx="1005840" cy="228600"/>
          </a:xfrm>
          <a:prstGeom prst="rect">
            <a:avLst/>
          </a:prstGeom>
          <a:noFill/>
        </p:spPr>
        <p:txBody>
          <a:bodyPr wrap="none">
            <a:spAutoFit/>
          </a:bodyPr>
          <a:lstStyle/>
          <a:p>
            <a:pPr algn="ctr">
              <a:defRPr b="1" sz="1300">
                <a:solidFill>
                  <a:srgbClr val="FFFFFF"/>
                </a:solidFill>
              </a:defRPr>
            </a:pPr>
            <a:r>
              <a:rPr/>
              <a:t>V2 Add Metadata</a:t>
            </a:r>
          </a:p>
        </p:txBody>
      </p:sp>
      <p:sp>
        <p:nvSpPr>
          <p:cNvPr id="11" name="TextBox 10"/>
          <p:cNvSpPr txBox="1"/>
          <p:nvPr/>
        </p:nvSpPr>
        <p:spPr>
          <a:xfrm>
            <a:off x="2057400" y="2404872"/>
            <a:ext cx="3840480" cy="594360"/>
          </a:xfrm>
          <a:prstGeom prst="rect">
            <a:avLst/>
          </a:prstGeom>
          <a:noFill/>
        </p:spPr>
        <p:txBody>
          <a:bodyPr wrap="none">
            <a:spAutoFit/>
          </a:bodyPr>
          <a:lstStyle/>
          <a:p>
            <a:pPr>
              <a:defRPr sz="1500" b="1">
                <a:solidFill>
                  <a:srgbClr val="142037"/>
                </a:solidFill>
              </a:defRPr>
            </a:pPr>
            <a:r>
              <a:rPr/>
              <a:t>Use address and time windows as constraints</a:t>
            </a:r>
          </a:p>
        </p:txBody>
      </p:sp>
      <p:sp>
        <p:nvSpPr>
          <p:cNvPr id="12" name="TextBox 11"/>
          <p:cNvSpPr txBox="1"/>
          <p:nvPr/>
        </p:nvSpPr>
        <p:spPr>
          <a:xfrm>
            <a:off x="6080760" y="2404872"/>
            <a:ext cx="5212080" cy="594360"/>
          </a:xfrm>
          <a:prstGeom prst="rect">
            <a:avLst/>
          </a:prstGeom>
          <a:noFill/>
        </p:spPr>
        <p:txBody>
          <a:bodyPr wrap="none">
            <a:spAutoFit/>
          </a:bodyPr>
          <a:lstStyle/>
          <a:p>
            <a:pPr>
              <a:defRPr sz="1400">
                <a:solidFill>
                  <a:srgbClr val="5F6978"/>
                </a:solidFill>
              </a:defRPr>
            </a:pPr>
            <a:r>
              <a:rPr/>
              <a:t>Reduces cross-source false merges</a:t>
            </a:r>
          </a:p>
        </p:txBody>
      </p:sp>
      <p:sp>
        <p:nvSpPr>
          <p:cNvPr id="13" name="Rounded Rectangle 12"/>
          <p:cNvSpPr/>
          <p:nvPr/>
        </p:nvSpPr>
        <p:spPr>
          <a:xfrm>
            <a:off x="640080" y="3337560"/>
            <a:ext cx="1234440" cy="658368"/>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520440"/>
            <a:ext cx="1005840" cy="228600"/>
          </a:xfrm>
          <a:prstGeom prst="rect">
            <a:avLst/>
          </a:prstGeom>
          <a:noFill/>
        </p:spPr>
        <p:txBody>
          <a:bodyPr wrap="none">
            <a:spAutoFit/>
          </a:bodyPr>
          <a:lstStyle/>
          <a:p>
            <a:pPr algn="ctr">
              <a:defRPr b="1" sz="1300">
                <a:solidFill>
                  <a:srgbClr val="FFFFFF"/>
                </a:solidFill>
              </a:defRPr>
            </a:pPr>
            <a:r>
              <a:rPr/>
              <a:t>V3 Add RawID Ledger</a:t>
            </a:r>
          </a:p>
        </p:txBody>
      </p:sp>
      <p:sp>
        <p:nvSpPr>
          <p:cNvPr id="15" name="TextBox 14"/>
          <p:cNvSpPr txBox="1"/>
          <p:nvPr/>
        </p:nvSpPr>
        <p:spPr>
          <a:xfrm>
            <a:off x="2057400" y="3364992"/>
            <a:ext cx="3840480" cy="594360"/>
          </a:xfrm>
          <a:prstGeom prst="rect">
            <a:avLst/>
          </a:prstGeom>
          <a:noFill/>
        </p:spPr>
        <p:txBody>
          <a:bodyPr wrap="none">
            <a:spAutoFit/>
          </a:bodyPr>
          <a:lstStyle/>
          <a:p>
            <a:pPr>
              <a:defRPr sz="1500" b="1">
                <a:solidFill>
                  <a:srgbClr val="142037"/>
                </a:solidFill>
              </a:defRPr>
            </a:pPr>
            <a:r>
              <a:rPr/>
              <a:t>Every relevant fragment must have exactly one destination</a:t>
            </a:r>
          </a:p>
        </p:txBody>
      </p:sp>
      <p:sp>
        <p:nvSpPr>
          <p:cNvPr id="16" name="TextBox 15"/>
          <p:cNvSpPr txBox="1"/>
          <p:nvPr/>
        </p:nvSpPr>
        <p:spPr>
          <a:xfrm>
            <a:off x="6080760" y="3364992"/>
            <a:ext cx="5212080" cy="594360"/>
          </a:xfrm>
          <a:prstGeom prst="rect">
            <a:avLst/>
          </a:prstGeom>
          <a:noFill/>
        </p:spPr>
        <p:txBody>
          <a:bodyPr wrap="none">
            <a:spAutoFit/>
          </a:bodyPr>
          <a:lstStyle/>
          <a:p>
            <a:pPr>
              <a:defRPr sz="1400">
                <a:solidFill>
                  <a:srgbClr val="5F6978"/>
                </a:solidFill>
              </a:defRPr>
            </a:pPr>
            <a:r>
              <a:rPr/>
              <a:t>Exposes omissions and duplicate use</a:t>
            </a:r>
          </a:p>
        </p:txBody>
      </p:sp>
      <p:sp>
        <p:nvSpPr>
          <p:cNvPr id="17" name="Rounded Rectangle 16"/>
          <p:cNvSpPr/>
          <p:nvPr/>
        </p:nvSpPr>
        <p:spPr>
          <a:xfrm>
            <a:off x="640080" y="4297680"/>
            <a:ext cx="1234440" cy="658368"/>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480560"/>
            <a:ext cx="1005840" cy="228600"/>
          </a:xfrm>
          <a:prstGeom prst="rect">
            <a:avLst/>
          </a:prstGeom>
          <a:noFill/>
        </p:spPr>
        <p:txBody>
          <a:bodyPr wrap="none">
            <a:spAutoFit/>
          </a:bodyPr>
          <a:lstStyle/>
          <a:p>
            <a:pPr algn="ctr">
              <a:defRPr b="1" sz="1300">
                <a:solidFill>
                  <a:srgbClr val="FFFFFF"/>
                </a:solidFill>
              </a:defRPr>
            </a:pPr>
            <a:r>
              <a:rPr/>
              <a:t>V4 Add Unresolved Gate</a:t>
            </a:r>
          </a:p>
        </p:txBody>
      </p:sp>
      <p:sp>
        <p:nvSpPr>
          <p:cNvPr id="19" name="TextBox 18"/>
          <p:cNvSpPr txBox="1"/>
          <p:nvPr/>
        </p:nvSpPr>
        <p:spPr>
          <a:xfrm>
            <a:off x="2057400" y="4325112"/>
            <a:ext cx="3840480" cy="594360"/>
          </a:xfrm>
          <a:prstGeom prst="rect">
            <a:avLst/>
          </a:prstGeom>
          <a:noFill/>
        </p:spPr>
        <p:txBody>
          <a:bodyPr wrap="none">
            <a:spAutoFit/>
          </a:bodyPr>
          <a:lstStyle/>
          <a:p>
            <a:pPr>
              <a:defRPr sz="1500" b="1">
                <a:solidFill>
                  <a:srgbClr val="142037"/>
                </a:solidFill>
              </a:defRPr>
            </a:pPr>
            <a:r>
              <a:rPr/>
              <a:t>Preserve uncertainty when reconstruction is not unique</a:t>
            </a:r>
          </a:p>
        </p:txBody>
      </p:sp>
      <p:sp>
        <p:nvSpPr>
          <p:cNvPr id="20" name="TextBox 19"/>
          <p:cNvSpPr txBox="1"/>
          <p:nvPr/>
        </p:nvSpPr>
        <p:spPr>
          <a:xfrm>
            <a:off x="6080760" y="4325112"/>
            <a:ext cx="5212080" cy="594360"/>
          </a:xfrm>
          <a:prstGeom prst="rect">
            <a:avLst/>
          </a:prstGeom>
          <a:noFill/>
        </p:spPr>
        <p:txBody>
          <a:bodyPr wrap="none">
            <a:spAutoFit/>
          </a:bodyPr>
          <a:lstStyle/>
          <a:p>
            <a:pPr>
              <a:defRPr sz="1400">
                <a:solidFill>
                  <a:srgbClr val="5F6978"/>
                </a:solidFill>
              </a:defRPr>
            </a:pPr>
            <a:r>
              <a:rPr/>
              <a:t>Prevents hallucinated completion</a:t>
            </a:r>
          </a:p>
        </p:txBody>
      </p:sp>
      <p:sp>
        <p:nvSpPr>
          <p:cNvPr id="21" name="Rounded Rectangle 20"/>
          <p:cNvSpPr/>
          <p:nvPr/>
        </p:nvSpPr>
        <p:spPr>
          <a:xfrm>
            <a:off x="640080" y="5257800"/>
            <a:ext cx="1234440" cy="65836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440680"/>
            <a:ext cx="1005840" cy="228600"/>
          </a:xfrm>
          <a:prstGeom prst="rect">
            <a:avLst/>
          </a:prstGeom>
          <a:noFill/>
        </p:spPr>
        <p:txBody>
          <a:bodyPr wrap="none">
            <a:spAutoFit/>
          </a:bodyPr>
          <a:lstStyle/>
          <a:p>
            <a:pPr algn="ctr">
              <a:defRPr b="1" sz="1300">
                <a:solidFill>
                  <a:srgbClr val="FFFFFF"/>
                </a:solidFill>
              </a:defRPr>
            </a:pPr>
            <a:r>
              <a:rPr/>
              <a:t>V5 Add Trace + Validator</a:t>
            </a:r>
          </a:p>
        </p:txBody>
      </p:sp>
      <p:sp>
        <p:nvSpPr>
          <p:cNvPr id="23" name="TextBox 22"/>
          <p:cNvSpPr txBox="1"/>
          <p:nvPr/>
        </p:nvSpPr>
        <p:spPr>
          <a:xfrm>
            <a:off x="2057400" y="5285232"/>
            <a:ext cx="3840480" cy="594360"/>
          </a:xfrm>
          <a:prstGeom prst="rect">
            <a:avLst/>
          </a:prstGeom>
          <a:noFill/>
        </p:spPr>
        <p:txBody>
          <a:bodyPr wrap="none">
            <a:spAutoFit/>
          </a:bodyPr>
          <a:lstStyle/>
          <a:p>
            <a:pPr>
              <a:defRPr sz="1500" b="1">
                <a:solidFill>
                  <a:srgbClr val="142037"/>
                </a:solidFill>
              </a:defRPr>
            </a:pPr>
            <a:r>
              <a:rPr/>
              <a:t>Make source boundaries reversible and the schema machine-checkable</a:t>
            </a:r>
          </a:p>
        </p:txBody>
      </p:sp>
      <p:sp>
        <p:nvSpPr>
          <p:cNvPr id="24" name="TextBox 23"/>
          <p:cNvSpPr txBox="1"/>
          <p:nvPr/>
        </p:nvSpPr>
        <p:spPr>
          <a:xfrm>
            <a:off x="6080760" y="5285232"/>
            <a:ext cx="5212080" cy="594360"/>
          </a:xfrm>
          <a:prstGeom prst="rect">
            <a:avLst/>
          </a:prstGeom>
          <a:noFill/>
        </p:spPr>
        <p:txBody>
          <a:bodyPr wrap="none">
            <a:spAutoFit/>
          </a:bodyPr>
          <a:lstStyle/>
          <a:p>
            <a:pPr>
              <a:defRPr sz="1400">
                <a:solidFill>
                  <a:srgbClr val="5F6978"/>
                </a:solidFill>
              </a:defRPr>
            </a:pPr>
            <a:r>
              <a:rPr/>
              <a:t>Turns a readable answer into an auditable output</a:t>
            </a:r>
          </a:p>
        </p:txBody>
      </p:sp>
      <p:sp>
        <p:nvSpPr>
          <p:cNvPr id="25" name="TextBox 24"/>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5. Evaluation Framework: Fluency Is Not Enough</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Evaluation unit = reconstructed text + evidence chain + uncertainty handling.</a:t>
            </a:r>
          </a:p>
        </p:txBody>
      </p:sp>
      <p:sp>
        <p:nvSpPr>
          <p:cNvPr id="5" name="Rounded Rectangle 4"/>
          <p:cNvSpPr/>
          <p:nvPr/>
        </p:nvSpPr>
        <p:spPr>
          <a:xfrm>
            <a:off x="640080" y="141732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69164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3017520" cy="411480"/>
          </a:xfrm>
          <a:prstGeom prst="rect">
            <a:avLst/>
          </a:prstGeom>
          <a:noFill/>
        </p:spPr>
        <p:txBody>
          <a:bodyPr wrap="none">
            <a:spAutoFit/>
          </a:bodyPr>
          <a:lstStyle/>
          <a:p>
            <a:pPr>
              <a:defRPr b="1" sz="1600">
                <a:solidFill>
                  <a:srgbClr val="142037"/>
                </a:solidFill>
              </a:defRPr>
            </a:pPr>
            <a:r>
              <a:rPr/>
              <a:t>Text Exact Match</a:t>
            </a:r>
          </a:p>
        </p:txBody>
      </p:sp>
      <p:sp>
        <p:nvSpPr>
          <p:cNvPr id="8" name="TextBox 7"/>
          <p:cNvSpPr txBox="1"/>
          <p:nvPr/>
        </p:nvSpPr>
        <p:spPr>
          <a:xfrm>
            <a:off x="868680" y="2130552"/>
            <a:ext cx="3017520" cy="841248"/>
          </a:xfrm>
          <a:prstGeom prst="rect">
            <a:avLst/>
          </a:prstGeom>
          <a:noFill/>
        </p:spPr>
        <p:txBody>
          <a:bodyPr wrap="square">
            <a:spAutoFit/>
          </a:bodyPr>
          <a:lstStyle/>
          <a:p>
            <a:pPr>
              <a:defRPr sz="1200">
                <a:solidFill>
                  <a:srgbClr val="5F6978"/>
                </a:solidFill>
              </a:defRPr>
            </a:pPr>
            <a:r>
              <a:rPr/>
              <a:t>Are wording and order faithful to the source?</a:t>
            </a:r>
          </a:p>
        </p:txBody>
      </p:sp>
      <p:sp>
        <p:nvSpPr>
          <p:cNvPr id="9" name="Rounded Rectangle 8"/>
          <p:cNvSpPr/>
          <p:nvPr/>
        </p:nvSpPr>
        <p:spPr>
          <a:xfrm>
            <a:off x="4434840" y="141732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417320"/>
            <a:ext cx="73152" cy="16916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600200"/>
            <a:ext cx="3017520" cy="411480"/>
          </a:xfrm>
          <a:prstGeom prst="rect">
            <a:avLst/>
          </a:prstGeom>
          <a:noFill/>
        </p:spPr>
        <p:txBody>
          <a:bodyPr wrap="none">
            <a:spAutoFit/>
          </a:bodyPr>
          <a:lstStyle/>
          <a:p>
            <a:pPr>
              <a:defRPr b="1" sz="1600">
                <a:solidFill>
                  <a:srgbClr val="142037"/>
                </a:solidFill>
              </a:defRPr>
            </a:pPr>
            <a:r>
              <a:rPr/>
              <a:t>Relevant RawID Coverage</a:t>
            </a:r>
          </a:p>
        </p:txBody>
      </p:sp>
      <p:sp>
        <p:nvSpPr>
          <p:cNvPr id="12" name="TextBox 11"/>
          <p:cNvSpPr txBox="1"/>
          <p:nvPr/>
        </p:nvSpPr>
        <p:spPr>
          <a:xfrm>
            <a:off x="4663440" y="2130552"/>
            <a:ext cx="3017520" cy="841248"/>
          </a:xfrm>
          <a:prstGeom prst="rect">
            <a:avLst/>
          </a:prstGeom>
          <a:noFill/>
        </p:spPr>
        <p:txBody>
          <a:bodyPr wrap="square">
            <a:spAutoFit/>
          </a:bodyPr>
          <a:lstStyle/>
          <a:p>
            <a:pPr>
              <a:defRPr sz="1200">
                <a:solidFill>
                  <a:srgbClr val="5F6978"/>
                </a:solidFill>
              </a:defRPr>
            </a:pPr>
            <a:r>
              <a:rPr/>
              <a:t>Does every relevant fragment have exactly one destination?</a:t>
            </a:r>
          </a:p>
        </p:txBody>
      </p:sp>
      <p:sp>
        <p:nvSpPr>
          <p:cNvPr id="13" name="Rounded Rectangle 12"/>
          <p:cNvSpPr/>
          <p:nvPr/>
        </p:nvSpPr>
        <p:spPr>
          <a:xfrm>
            <a:off x="8229600" y="141732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417320"/>
            <a:ext cx="73152" cy="169164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600200"/>
            <a:ext cx="3017520" cy="411480"/>
          </a:xfrm>
          <a:prstGeom prst="rect">
            <a:avLst/>
          </a:prstGeom>
          <a:noFill/>
        </p:spPr>
        <p:txBody>
          <a:bodyPr wrap="none">
            <a:spAutoFit/>
          </a:bodyPr>
          <a:lstStyle/>
          <a:p>
            <a:pPr>
              <a:defRPr b="1" sz="1600">
                <a:solidFill>
                  <a:srgbClr val="142037"/>
                </a:solidFill>
              </a:defRPr>
            </a:pPr>
            <a:r>
              <a:rPr/>
              <a:t>EvidenceGroup F1</a:t>
            </a:r>
          </a:p>
        </p:txBody>
      </p:sp>
      <p:sp>
        <p:nvSpPr>
          <p:cNvPr id="16" name="TextBox 15"/>
          <p:cNvSpPr txBox="1"/>
          <p:nvPr/>
        </p:nvSpPr>
        <p:spPr>
          <a:xfrm>
            <a:off x="8458200" y="2130552"/>
            <a:ext cx="3017520" cy="841248"/>
          </a:xfrm>
          <a:prstGeom prst="rect">
            <a:avLst/>
          </a:prstGeom>
          <a:noFill/>
        </p:spPr>
        <p:txBody>
          <a:bodyPr wrap="square">
            <a:spAutoFit/>
          </a:bodyPr>
          <a:lstStyle/>
          <a:p>
            <a:pPr>
              <a:defRPr sz="1200">
                <a:solidFill>
                  <a:srgbClr val="5F6978"/>
                </a:solidFill>
              </a:defRPr>
            </a:pPr>
            <a:r>
              <a:rPr/>
              <a:t>Is the evidence chain complete and free of false links?</a:t>
            </a:r>
          </a:p>
        </p:txBody>
      </p:sp>
      <p:sp>
        <p:nvSpPr>
          <p:cNvPr id="17" name="Rounded Rectangle 16"/>
          <p:cNvSpPr/>
          <p:nvPr/>
        </p:nvSpPr>
        <p:spPr>
          <a:xfrm>
            <a:off x="640080" y="356616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66160"/>
            <a:ext cx="73152" cy="1691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49040"/>
            <a:ext cx="3017520" cy="411480"/>
          </a:xfrm>
          <a:prstGeom prst="rect">
            <a:avLst/>
          </a:prstGeom>
          <a:noFill/>
        </p:spPr>
        <p:txBody>
          <a:bodyPr wrap="none">
            <a:spAutoFit/>
          </a:bodyPr>
          <a:lstStyle/>
          <a:p>
            <a:pPr>
              <a:defRPr b="1" sz="1600">
                <a:solidFill>
                  <a:srgbClr val="142037"/>
                </a:solidFill>
              </a:defRPr>
            </a:pPr>
            <a:r>
              <a:rPr/>
              <a:t>Raw / Clean Trace</a:t>
            </a:r>
          </a:p>
        </p:txBody>
      </p:sp>
      <p:sp>
        <p:nvSpPr>
          <p:cNvPr id="20" name="TextBox 19"/>
          <p:cNvSpPr txBox="1"/>
          <p:nvPr/>
        </p:nvSpPr>
        <p:spPr>
          <a:xfrm>
            <a:off x="868680" y="4279392"/>
            <a:ext cx="3017520" cy="841247"/>
          </a:xfrm>
          <a:prstGeom prst="rect">
            <a:avLst/>
          </a:prstGeom>
          <a:noFill/>
        </p:spPr>
        <p:txBody>
          <a:bodyPr wrap="square">
            <a:spAutoFit/>
          </a:bodyPr>
          <a:lstStyle/>
          <a:p>
            <a:pPr>
              <a:defRPr sz="1200">
                <a:solidFill>
                  <a:srgbClr val="5F6978"/>
                </a:solidFill>
              </a:defRPr>
            </a:pPr>
            <a:r>
              <a:rPr/>
              <a:t>Can we replay the source and verify noise cleaning?</a:t>
            </a:r>
          </a:p>
        </p:txBody>
      </p:sp>
      <p:sp>
        <p:nvSpPr>
          <p:cNvPr id="21" name="Rounded Rectangle 20"/>
          <p:cNvSpPr/>
          <p:nvPr/>
        </p:nvSpPr>
        <p:spPr>
          <a:xfrm>
            <a:off x="4434840" y="356616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566160"/>
            <a:ext cx="73152" cy="169164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749040"/>
            <a:ext cx="3017520" cy="411480"/>
          </a:xfrm>
          <a:prstGeom prst="rect">
            <a:avLst/>
          </a:prstGeom>
          <a:noFill/>
        </p:spPr>
        <p:txBody>
          <a:bodyPr wrap="none">
            <a:spAutoFit/>
          </a:bodyPr>
          <a:lstStyle/>
          <a:p>
            <a:pPr>
              <a:defRPr b="1" sz="1600">
                <a:solidFill>
                  <a:srgbClr val="142037"/>
                </a:solidFill>
              </a:defRPr>
            </a:pPr>
            <a:r>
              <a:rPr/>
              <a:t>Unresolved Recall</a:t>
            </a:r>
          </a:p>
        </p:txBody>
      </p:sp>
      <p:sp>
        <p:nvSpPr>
          <p:cNvPr id="24" name="TextBox 23"/>
          <p:cNvSpPr txBox="1"/>
          <p:nvPr/>
        </p:nvSpPr>
        <p:spPr>
          <a:xfrm>
            <a:off x="4663440" y="4279392"/>
            <a:ext cx="3017520" cy="841247"/>
          </a:xfrm>
          <a:prstGeom prst="rect">
            <a:avLst/>
          </a:prstGeom>
          <a:noFill/>
        </p:spPr>
        <p:txBody>
          <a:bodyPr wrap="square">
            <a:spAutoFit/>
          </a:bodyPr>
          <a:lstStyle/>
          <a:p>
            <a:pPr>
              <a:defRPr sz="1200">
                <a:solidFill>
                  <a:srgbClr val="5F6978"/>
                </a:solidFill>
              </a:defRPr>
            </a:pPr>
            <a:r>
              <a:rPr/>
              <a:t>Are missing or ambiguous cases safely preserved?</a:t>
            </a:r>
          </a:p>
        </p:txBody>
      </p:sp>
      <p:sp>
        <p:nvSpPr>
          <p:cNvPr id="25" name="Rounded Rectangle 24"/>
          <p:cNvSpPr/>
          <p:nvPr/>
        </p:nvSpPr>
        <p:spPr>
          <a:xfrm>
            <a:off x="8229600" y="3566160"/>
            <a:ext cx="3429000" cy="16916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3566160"/>
            <a:ext cx="73152" cy="1691640"/>
          </a:xfrm>
          <a:prstGeom prst="rect">
            <a:avLst/>
          </a:prstGeom>
          <a:solidFill>
            <a:srgbClr val="14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3749040"/>
            <a:ext cx="3017520" cy="411480"/>
          </a:xfrm>
          <a:prstGeom prst="rect">
            <a:avLst/>
          </a:prstGeom>
          <a:noFill/>
        </p:spPr>
        <p:txBody>
          <a:bodyPr wrap="none">
            <a:spAutoFit/>
          </a:bodyPr>
          <a:lstStyle/>
          <a:p>
            <a:pPr>
              <a:defRPr b="1" sz="1600">
                <a:solidFill>
                  <a:srgbClr val="142037"/>
                </a:solidFill>
              </a:defRPr>
            </a:pPr>
            <a:r>
              <a:rPr/>
              <a:t>JSON / Referential Integrity</a:t>
            </a:r>
          </a:p>
        </p:txBody>
      </p:sp>
      <p:sp>
        <p:nvSpPr>
          <p:cNvPr id="28" name="TextBox 27"/>
          <p:cNvSpPr txBox="1"/>
          <p:nvPr/>
        </p:nvSpPr>
        <p:spPr>
          <a:xfrm>
            <a:off x="8458200" y="4279392"/>
            <a:ext cx="3017520" cy="841247"/>
          </a:xfrm>
          <a:prstGeom prst="rect">
            <a:avLst/>
          </a:prstGeom>
          <a:noFill/>
        </p:spPr>
        <p:txBody>
          <a:bodyPr wrap="square">
            <a:spAutoFit/>
          </a:bodyPr>
          <a:lstStyle/>
          <a:p>
            <a:pPr>
              <a:defRPr sz="1200">
                <a:solidFill>
                  <a:srgbClr val="5F6978"/>
                </a:solidFill>
              </a:defRPr>
            </a:pPr>
            <a:r>
              <a:rPr/>
              <a:t>Can downstream software consume the output reliably?</a:t>
            </a:r>
          </a:p>
        </p:txBody>
      </p:sp>
      <p:sp>
        <p:nvSpPr>
          <p:cNvPr id="29" name="TextBox 28"/>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6. Qwen3.6 Local Evaluation: Strong Text, Weak Audit Chain</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100 RawID fixed test set — local open-model evaluation.</a:t>
            </a:r>
          </a:p>
        </p:txBody>
      </p:sp>
      <p:sp>
        <p:nvSpPr>
          <p:cNvPr id="5" name="Rounded Rectangle 4"/>
          <p:cNvSpPr/>
          <p:nvPr/>
        </p:nvSpPr>
        <p:spPr>
          <a:xfrm>
            <a:off x="640080" y="1417320"/>
            <a:ext cx="2468880" cy="1554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5544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2057400" cy="411480"/>
          </a:xfrm>
          <a:prstGeom prst="rect">
            <a:avLst/>
          </a:prstGeom>
          <a:noFill/>
        </p:spPr>
        <p:txBody>
          <a:bodyPr wrap="none">
            <a:spAutoFit/>
          </a:bodyPr>
          <a:lstStyle/>
          <a:p>
            <a:pPr>
              <a:defRPr b="1" sz="1600">
                <a:solidFill>
                  <a:srgbClr val="142037"/>
                </a:solidFill>
              </a:defRPr>
            </a:pPr>
            <a:r>
              <a:rPr/>
              <a:t>Composite Score</a:t>
            </a:r>
          </a:p>
        </p:txBody>
      </p:sp>
      <p:sp>
        <p:nvSpPr>
          <p:cNvPr id="8" name="TextBox 7"/>
          <p:cNvSpPr txBox="1"/>
          <p:nvPr/>
        </p:nvSpPr>
        <p:spPr>
          <a:xfrm>
            <a:off x="868680" y="2103120"/>
            <a:ext cx="2057400" cy="594360"/>
          </a:xfrm>
          <a:prstGeom prst="rect">
            <a:avLst/>
          </a:prstGeom>
          <a:noFill/>
        </p:spPr>
        <p:txBody>
          <a:bodyPr wrap="none">
            <a:spAutoFit/>
          </a:bodyPr>
          <a:lstStyle/>
          <a:p>
            <a:pPr>
              <a:defRPr b="1" sz="2800">
                <a:solidFill>
                  <a:srgbClr val="F57C00"/>
                </a:solidFill>
              </a:defRPr>
            </a:pPr>
            <a:r>
              <a:rPr/>
              <a:t>62 / 100</a:t>
            </a:r>
          </a:p>
        </p:txBody>
      </p:sp>
      <p:sp>
        <p:nvSpPr>
          <p:cNvPr id="9" name="TextBox 8"/>
          <p:cNvSpPr txBox="1"/>
          <p:nvPr/>
        </p:nvSpPr>
        <p:spPr>
          <a:xfrm>
            <a:off x="868680" y="2743200"/>
            <a:ext cx="2057400" cy="91440"/>
          </a:xfrm>
          <a:prstGeom prst="rect">
            <a:avLst/>
          </a:prstGeom>
          <a:noFill/>
        </p:spPr>
        <p:txBody>
          <a:bodyPr wrap="square">
            <a:spAutoFit/>
          </a:bodyPr>
          <a:lstStyle/>
          <a:p>
            <a:pPr>
              <a:defRPr sz="1200">
                <a:solidFill>
                  <a:srgbClr val="5F6978"/>
                </a:solidFill>
              </a:defRPr>
            </a:pPr>
            <a:r>
              <a:rPr/>
              <a:t>Text reconstruction is strong, but RawID coverage, evidence tracking, and unresolved handling remain below the deployment threshold.</a:t>
            </a:r>
          </a:p>
        </p:txBody>
      </p:sp>
      <p:sp>
        <p:nvSpPr>
          <p:cNvPr id="10" name="Rounded Rectangle 9"/>
          <p:cNvSpPr/>
          <p:nvPr/>
        </p:nvSpPr>
        <p:spPr>
          <a:xfrm>
            <a:off x="640080" y="3246120"/>
            <a:ext cx="2468880" cy="1554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246120"/>
            <a:ext cx="73152" cy="155448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429000"/>
            <a:ext cx="2057400" cy="411480"/>
          </a:xfrm>
          <a:prstGeom prst="rect">
            <a:avLst/>
          </a:prstGeom>
          <a:noFill/>
        </p:spPr>
        <p:txBody>
          <a:bodyPr wrap="none">
            <a:spAutoFit/>
          </a:bodyPr>
          <a:lstStyle/>
          <a:p>
            <a:pPr>
              <a:defRPr b="1" sz="1600">
                <a:solidFill>
                  <a:srgbClr val="142037"/>
                </a:solidFill>
              </a:defRPr>
            </a:pPr>
            <a:r>
              <a:rPr/>
              <a:t>Text F1</a:t>
            </a:r>
          </a:p>
        </p:txBody>
      </p:sp>
      <p:sp>
        <p:nvSpPr>
          <p:cNvPr id="13" name="TextBox 12"/>
          <p:cNvSpPr txBox="1"/>
          <p:nvPr/>
        </p:nvSpPr>
        <p:spPr>
          <a:xfrm>
            <a:off x="868680" y="3931920"/>
            <a:ext cx="2057400" cy="594360"/>
          </a:xfrm>
          <a:prstGeom prst="rect">
            <a:avLst/>
          </a:prstGeom>
          <a:noFill/>
        </p:spPr>
        <p:txBody>
          <a:bodyPr wrap="none">
            <a:spAutoFit/>
          </a:bodyPr>
          <a:lstStyle/>
          <a:p>
            <a:pPr>
              <a:defRPr b="1" sz="2800">
                <a:solidFill>
                  <a:srgbClr val="2962FF"/>
                </a:solidFill>
              </a:defRPr>
            </a:pPr>
            <a:r>
              <a:rPr/>
              <a:t>90.9%</a:t>
            </a:r>
          </a:p>
        </p:txBody>
      </p:sp>
      <p:sp>
        <p:nvSpPr>
          <p:cNvPr id="14" name="TextBox 13"/>
          <p:cNvSpPr txBox="1"/>
          <p:nvPr/>
        </p:nvSpPr>
        <p:spPr>
          <a:xfrm>
            <a:off x="868680" y="4572000"/>
            <a:ext cx="2057400" cy="91439"/>
          </a:xfrm>
          <a:prstGeom prst="rect">
            <a:avLst/>
          </a:prstGeom>
          <a:noFill/>
        </p:spPr>
        <p:txBody>
          <a:bodyPr wrap="square">
            <a:spAutoFit/>
          </a:bodyPr>
          <a:lstStyle/>
          <a:p>
            <a:pPr>
              <a:defRPr sz="1200">
                <a:solidFill>
                  <a:srgbClr val="5F6978"/>
                </a:solidFill>
              </a:defRPr>
            </a:pPr>
            <a:r>
              <a:rPr/>
              <a:t>Precision was 100% and recall 83.3%. All five complete messages that were produced were correct.</a:t>
            </a:r>
          </a:p>
        </p:txBody>
      </p:sp>
      <p:sp>
        <p:nvSpPr>
          <p:cNvPr id="15" name="Rounded Rectangle 14"/>
          <p:cNvSpPr/>
          <p:nvPr/>
        </p:nvSpPr>
        <p:spPr>
          <a:xfrm>
            <a:off x="640080" y="5074920"/>
            <a:ext cx="2468880"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074920"/>
            <a:ext cx="73152" cy="10058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57800"/>
            <a:ext cx="2057400" cy="411480"/>
          </a:xfrm>
          <a:prstGeom prst="rect">
            <a:avLst/>
          </a:prstGeom>
          <a:noFill/>
        </p:spPr>
        <p:txBody>
          <a:bodyPr wrap="none">
            <a:spAutoFit/>
          </a:bodyPr>
          <a:lstStyle/>
          <a:p>
            <a:pPr>
              <a:defRPr b="1" sz="1600">
                <a:solidFill>
                  <a:srgbClr val="142037"/>
                </a:solidFill>
              </a:defRPr>
            </a:pPr>
            <a:r>
              <a:rPr/>
              <a:t>Recommended Role</a:t>
            </a:r>
          </a:p>
        </p:txBody>
      </p:sp>
      <p:sp>
        <p:nvSpPr>
          <p:cNvPr id="18" name="TextBox 17"/>
          <p:cNvSpPr txBox="1"/>
          <p:nvPr/>
        </p:nvSpPr>
        <p:spPr>
          <a:xfrm>
            <a:off x="868680" y="5788152"/>
            <a:ext cx="2057400" cy="155447"/>
          </a:xfrm>
          <a:prstGeom prst="rect">
            <a:avLst/>
          </a:prstGeom>
          <a:noFill/>
        </p:spPr>
        <p:txBody>
          <a:bodyPr wrap="square">
            <a:spAutoFit/>
          </a:bodyPr>
          <a:lstStyle/>
          <a:p>
            <a:pPr>
              <a:defRPr sz="1200">
                <a:solidFill>
                  <a:srgbClr val="5F6978"/>
                </a:solidFill>
              </a:defRPr>
            </a:pPr>
            <a:r>
              <a:rPr/>
              <a:t>Best used as a candidate reconstruction engine followed by deterministic validation and human review.</a:t>
            </a:r>
          </a:p>
        </p:txBody>
      </p:sp>
      <p:graphicFrame>
        <p:nvGraphicFramePr>
          <p:cNvPr id="19" name="Chart 18"/>
          <p:cNvGraphicFramePr>
            <a:graphicFrameLocks noGrp="1"/>
          </p:cNvGraphicFramePr>
          <p:nvPr/>
        </p:nvGraphicFramePr>
        <p:xfrm>
          <a:off x="3429000" y="1417320"/>
          <a:ext cx="8046720" cy="4297680"/>
        </p:xfrm>
        <a:graphic>
          <a:graphicData uri="http://schemas.openxmlformats.org/drawingml/2006/chart">
            <c:chart xmlns:c="http://schemas.openxmlformats.org/drawingml/2006/chart" r:id="rId2"/>
          </a:graphicData>
        </a:graphic>
      </p:graphicFrame>
      <p:sp>
        <p:nvSpPr>
          <p:cNvPr id="20" name="TextBox 19"/>
          <p:cNvSpPr txBox="1"/>
          <p:nvPr/>
        </p:nvSpPr>
        <p:spPr>
          <a:xfrm>
            <a:off x="3657600" y="5806440"/>
            <a:ext cx="7315200" cy="594360"/>
          </a:xfrm>
          <a:prstGeom prst="rect">
            <a:avLst/>
          </a:prstGeom>
          <a:noFill/>
        </p:spPr>
        <p:txBody>
          <a:bodyPr wrap="square">
            <a:spAutoFit/>
          </a:bodyPr>
          <a:lstStyle/>
          <a:p>
            <a:pPr>
              <a:spcAft>
                <a:spcPts val="1000"/>
              </a:spcAft>
              <a:defRPr sz="1300">
                <a:solidFill>
                  <a:srgbClr val="1E242E"/>
                </a:solidFill>
              </a:defRPr>
            </a:pPr>
            <a:r>
              <a:rPr/>
              <a:t>Main risk: 17 of 40 relevant RawIDs had no final destination, and all three groups that should have remained unresolved were mishandled.</a:t>
            </a:r>
          </a:p>
        </p:txBody>
      </p:sp>
      <p:sp>
        <p:nvSpPr>
          <p:cNvPr id="21" name="TextBox 20"/>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7. Kimi K3 on Hugging Face: Near-Complete Core Task Performance</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Same 100 RawID test set — open-model evaluation through hosted inference.</a:t>
            </a:r>
          </a:p>
        </p:txBody>
      </p:sp>
      <p:sp>
        <p:nvSpPr>
          <p:cNvPr id="5" name="Rounded Rectangle 4"/>
          <p:cNvSpPr/>
          <p:nvPr/>
        </p:nvSpPr>
        <p:spPr>
          <a:xfrm>
            <a:off x="640080" y="1417320"/>
            <a:ext cx="2468880" cy="1554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554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2057400" cy="411480"/>
          </a:xfrm>
          <a:prstGeom prst="rect">
            <a:avLst/>
          </a:prstGeom>
          <a:noFill/>
        </p:spPr>
        <p:txBody>
          <a:bodyPr wrap="none">
            <a:spAutoFit/>
          </a:bodyPr>
          <a:lstStyle/>
          <a:p>
            <a:pPr>
              <a:defRPr b="1" sz="1600">
                <a:solidFill>
                  <a:srgbClr val="142037"/>
                </a:solidFill>
              </a:defRPr>
            </a:pPr>
            <a:r>
              <a:rPr/>
              <a:t>Deployment Readiness</a:t>
            </a:r>
          </a:p>
        </p:txBody>
      </p:sp>
      <p:sp>
        <p:nvSpPr>
          <p:cNvPr id="8" name="TextBox 7"/>
          <p:cNvSpPr txBox="1"/>
          <p:nvPr/>
        </p:nvSpPr>
        <p:spPr>
          <a:xfrm>
            <a:off x="868680" y="2103120"/>
            <a:ext cx="2057400" cy="594360"/>
          </a:xfrm>
          <a:prstGeom prst="rect">
            <a:avLst/>
          </a:prstGeom>
          <a:noFill/>
        </p:spPr>
        <p:txBody>
          <a:bodyPr wrap="none">
            <a:spAutoFit/>
          </a:bodyPr>
          <a:lstStyle/>
          <a:p>
            <a:pPr>
              <a:defRPr b="1" sz="2800">
                <a:solidFill>
                  <a:srgbClr val="2E7D32"/>
                </a:solidFill>
              </a:defRPr>
            </a:pPr>
            <a:r>
              <a:rPr/>
              <a:t>97 / 100</a:t>
            </a:r>
          </a:p>
        </p:txBody>
      </p:sp>
      <p:sp>
        <p:nvSpPr>
          <p:cNvPr id="9" name="TextBox 8"/>
          <p:cNvSpPr txBox="1"/>
          <p:nvPr/>
        </p:nvSpPr>
        <p:spPr>
          <a:xfrm>
            <a:off x="868680" y="2743200"/>
            <a:ext cx="2057400" cy="91440"/>
          </a:xfrm>
          <a:prstGeom prst="rect">
            <a:avLst/>
          </a:prstGeom>
          <a:noFill/>
        </p:spPr>
        <p:txBody>
          <a:bodyPr wrap="square">
            <a:spAutoFit/>
          </a:bodyPr>
          <a:lstStyle/>
          <a:p>
            <a:pPr>
              <a:defRPr sz="1200">
                <a:solidFill>
                  <a:srgbClr val="5F6978"/>
                </a:solidFill>
              </a:defRPr>
            </a:pPr>
            <a:r>
              <a:rPr/>
              <a:t>A custom weighted quality score. Core tasks were correct, but cross-date evidence governance still requires attention.</a:t>
            </a:r>
          </a:p>
        </p:txBody>
      </p:sp>
      <p:sp>
        <p:nvSpPr>
          <p:cNvPr id="10" name="Rounded Rectangle 9"/>
          <p:cNvSpPr/>
          <p:nvPr/>
        </p:nvSpPr>
        <p:spPr>
          <a:xfrm>
            <a:off x="640080" y="3246120"/>
            <a:ext cx="2468880" cy="1554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246120"/>
            <a:ext cx="73152" cy="15544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429000"/>
            <a:ext cx="2057400" cy="411480"/>
          </a:xfrm>
          <a:prstGeom prst="rect">
            <a:avLst/>
          </a:prstGeom>
          <a:noFill/>
        </p:spPr>
        <p:txBody>
          <a:bodyPr wrap="none">
            <a:spAutoFit/>
          </a:bodyPr>
          <a:lstStyle/>
          <a:p>
            <a:pPr>
              <a:defRPr b="1" sz="1600">
                <a:solidFill>
                  <a:srgbClr val="142037"/>
                </a:solidFill>
              </a:defRPr>
            </a:pPr>
            <a:r>
              <a:rPr/>
              <a:t>Core Task</a:t>
            </a:r>
          </a:p>
        </p:txBody>
      </p:sp>
      <p:sp>
        <p:nvSpPr>
          <p:cNvPr id="13" name="TextBox 12"/>
          <p:cNvSpPr txBox="1"/>
          <p:nvPr/>
        </p:nvSpPr>
        <p:spPr>
          <a:xfrm>
            <a:off x="868680" y="3931920"/>
            <a:ext cx="2057400" cy="594360"/>
          </a:xfrm>
          <a:prstGeom prst="rect">
            <a:avLst/>
          </a:prstGeom>
          <a:noFill/>
        </p:spPr>
        <p:txBody>
          <a:bodyPr wrap="none">
            <a:spAutoFit/>
          </a:bodyPr>
          <a:lstStyle/>
          <a:p>
            <a:pPr>
              <a:defRPr b="1" sz="2800">
                <a:solidFill>
                  <a:srgbClr val="009688"/>
                </a:solidFill>
              </a:defRPr>
            </a:pPr>
            <a:r>
              <a:rPr/>
              <a:t>100%</a:t>
            </a:r>
          </a:p>
        </p:txBody>
      </p:sp>
      <p:sp>
        <p:nvSpPr>
          <p:cNvPr id="14" name="TextBox 13"/>
          <p:cNvSpPr txBox="1"/>
          <p:nvPr/>
        </p:nvSpPr>
        <p:spPr>
          <a:xfrm>
            <a:off x="868680" y="4572000"/>
            <a:ext cx="2057400" cy="91439"/>
          </a:xfrm>
          <a:prstGeom prst="rect">
            <a:avLst/>
          </a:prstGeom>
          <a:noFill/>
        </p:spPr>
        <p:txBody>
          <a:bodyPr wrap="square">
            <a:spAutoFit/>
          </a:bodyPr>
          <a:lstStyle/>
          <a:p>
            <a:pPr>
              <a:defRPr sz="1200">
                <a:solidFill>
                  <a:srgbClr val="5F6978"/>
                </a:solidFill>
              </a:defRPr>
            </a:pPr>
            <a:r>
              <a:rPr/>
              <a:t>40 of 40 relevant RawIDs, 6 of 6 complete messages, and all 3 unresolved groups were handled correctly.</a:t>
            </a:r>
          </a:p>
        </p:txBody>
      </p:sp>
      <p:sp>
        <p:nvSpPr>
          <p:cNvPr id="15" name="Rounded Rectangle 14"/>
          <p:cNvSpPr/>
          <p:nvPr/>
        </p:nvSpPr>
        <p:spPr>
          <a:xfrm>
            <a:off x="640080" y="5074920"/>
            <a:ext cx="2468880"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074920"/>
            <a:ext cx="73152" cy="100584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57800"/>
            <a:ext cx="2057400" cy="411480"/>
          </a:xfrm>
          <a:prstGeom prst="rect">
            <a:avLst/>
          </a:prstGeom>
          <a:noFill/>
        </p:spPr>
        <p:txBody>
          <a:bodyPr wrap="none">
            <a:spAutoFit/>
          </a:bodyPr>
          <a:lstStyle/>
          <a:p>
            <a:pPr>
              <a:defRPr b="1" sz="1600">
                <a:solidFill>
                  <a:srgbClr val="142037"/>
                </a:solidFill>
              </a:defRPr>
            </a:pPr>
            <a:r>
              <a:rPr/>
              <a:t>Caution</a:t>
            </a:r>
          </a:p>
        </p:txBody>
      </p:sp>
      <p:sp>
        <p:nvSpPr>
          <p:cNvPr id="18" name="TextBox 17"/>
          <p:cNvSpPr txBox="1"/>
          <p:nvPr/>
        </p:nvSpPr>
        <p:spPr>
          <a:xfrm>
            <a:off x="868680" y="5788152"/>
            <a:ext cx="2057400" cy="155447"/>
          </a:xfrm>
          <a:prstGeom prst="rect">
            <a:avLst/>
          </a:prstGeom>
          <a:noFill/>
        </p:spPr>
        <p:txBody>
          <a:bodyPr wrap="square">
            <a:spAutoFit/>
          </a:bodyPr>
          <a:lstStyle/>
          <a:p>
            <a:pPr>
              <a:defRPr sz="1200">
                <a:solidFill>
                  <a:srgbClr val="5F6978"/>
                </a:solidFill>
              </a:defRPr>
            </a:pPr>
            <a:r>
              <a:rPr/>
              <a:t>A single 100-record static test does not prove generalization and does not measure local latency, throughput, or cost.</a:t>
            </a:r>
          </a:p>
        </p:txBody>
      </p:sp>
      <p:graphicFrame>
        <p:nvGraphicFramePr>
          <p:cNvPr id="19" name="Chart 18"/>
          <p:cNvGraphicFramePr>
            <a:graphicFrameLocks noGrp="1"/>
          </p:cNvGraphicFramePr>
          <p:nvPr/>
        </p:nvGraphicFramePr>
        <p:xfrm>
          <a:off x="3429000" y="1417320"/>
          <a:ext cx="8046720" cy="4297680"/>
        </p:xfrm>
        <a:graphic>
          <a:graphicData uri="http://schemas.openxmlformats.org/drawingml/2006/chart">
            <c:chart xmlns:c="http://schemas.openxmlformats.org/drawingml/2006/chart" r:id="rId2"/>
          </a:graphicData>
        </a:graphic>
      </p:graphicFrame>
      <p:sp>
        <p:nvSpPr>
          <p:cNvPr id="20" name="TextBox 19"/>
          <p:cNvSpPr txBox="1"/>
          <p:nvPr/>
        </p:nvSpPr>
        <p:spPr>
          <a:xfrm>
            <a:off x="3657600" y="5806440"/>
            <a:ext cx="7315200" cy="594360"/>
          </a:xfrm>
          <a:prstGeom prst="rect">
            <a:avLst/>
          </a:prstGeom>
          <a:noFill/>
        </p:spPr>
        <p:txBody>
          <a:bodyPr wrap="square">
            <a:spAutoFit/>
          </a:bodyPr>
          <a:lstStyle/>
          <a:p>
            <a:pPr>
              <a:spcAft>
                <a:spcPts val="1000"/>
              </a:spcAft>
              <a:defRPr sz="1300">
                <a:solidFill>
                  <a:srgbClr val="1E242E"/>
                </a:solidFill>
              </a:defRPr>
            </a:pPr>
            <a:r>
              <a:rPr/>
              <a:t>Remaining issue: one EvidenceGroup crossed dates, suggesting that “evidence for the same text” and “the same transmission occurrence” should be modeled separately.</a:t>
            </a:r>
          </a:p>
        </p:txBody>
      </p:sp>
      <p:sp>
        <p:nvSpPr>
          <p:cNvPr id="21" name="TextBox 20"/>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8. Head-to-Head: The Main Gap Is Governance, Not Fluency</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Both models can reconstruct text; the difference is how safely they manage evidence.</a:t>
            </a:r>
          </a:p>
        </p:txBody>
      </p:sp>
      <p:graphicFrame>
        <p:nvGraphicFramePr>
          <p:cNvPr id="5" name="Chart 4"/>
          <p:cNvGraphicFramePr>
            <a:graphicFrameLocks noGrp="1"/>
          </p:cNvGraphicFramePr>
          <p:nvPr/>
        </p:nvGraphicFramePr>
        <p:xfrm>
          <a:off x="640080" y="1417320"/>
          <a:ext cx="6583680" cy="4389120"/>
        </p:xfrm>
        <a:graphic>
          <a:graphicData uri="http://schemas.openxmlformats.org/drawingml/2006/chart">
            <c:chart xmlns:c="http://schemas.openxmlformats.org/drawingml/2006/chart" r:id="rId2"/>
          </a:graphicData>
        </a:graphic>
      </p:graphicFrame>
      <p:sp>
        <p:nvSpPr>
          <p:cNvPr id="6" name="Rounded Rectangle 5"/>
          <p:cNvSpPr/>
          <p:nvPr/>
        </p:nvSpPr>
        <p:spPr>
          <a:xfrm>
            <a:off x="7543800" y="1508760"/>
            <a:ext cx="3931920" cy="14173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0" y="1508760"/>
            <a:ext cx="73152" cy="141732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91639"/>
            <a:ext cx="3520439" cy="411480"/>
          </a:xfrm>
          <a:prstGeom prst="rect">
            <a:avLst/>
          </a:prstGeom>
          <a:noFill/>
        </p:spPr>
        <p:txBody>
          <a:bodyPr wrap="none">
            <a:spAutoFit/>
          </a:bodyPr>
          <a:lstStyle/>
          <a:p>
            <a:pPr>
              <a:defRPr b="1" sz="1600">
                <a:solidFill>
                  <a:srgbClr val="142037"/>
                </a:solidFill>
              </a:defRPr>
            </a:pPr>
            <a:r>
              <a:rPr/>
              <a:t>Qwen3.6 Strengths</a:t>
            </a:r>
          </a:p>
        </p:txBody>
      </p:sp>
      <p:sp>
        <p:nvSpPr>
          <p:cNvPr id="9" name="TextBox 8"/>
          <p:cNvSpPr txBox="1"/>
          <p:nvPr/>
        </p:nvSpPr>
        <p:spPr>
          <a:xfrm>
            <a:off x="7772400" y="2221991"/>
            <a:ext cx="3520439" cy="566928"/>
          </a:xfrm>
          <a:prstGeom prst="rect">
            <a:avLst/>
          </a:prstGeom>
          <a:noFill/>
        </p:spPr>
        <p:txBody>
          <a:bodyPr wrap="square">
            <a:spAutoFit/>
          </a:bodyPr>
          <a:lstStyle/>
          <a:p>
            <a:pPr>
              <a:defRPr sz="1200">
                <a:solidFill>
                  <a:srgbClr val="5F6978"/>
                </a:solidFill>
              </a:defRPr>
            </a:pPr>
            <a:r>
              <a:rPr/>
              <a:t>Already running locally, high text precision, and straightforward integration with existing internal infrastructure and data governance.</a:t>
            </a:r>
          </a:p>
        </p:txBody>
      </p:sp>
      <p:sp>
        <p:nvSpPr>
          <p:cNvPr id="10" name="Rounded Rectangle 9"/>
          <p:cNvSpPr/>
          <p:nvPr/>
        </p:nvSpPr>
        <p:spPr>
          <a:xfrm>
            <a:off x="7543800" y="3154680"/>
            <a:ext cx="3931920" cy="14173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3800" y="3154680"/>
            <a:ext cx="73152" cy="14173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3337560"/>
            <a:ext cx="3520439" cy="411480"/>
          </a:xfrm>
          <a:prstGeom prst="rect">
            <a:avLst/>
          </a:prstGeom>
          <a:noFill/>
        </p:spPr>
        <p:txBody>
          <a:bodyPr wrap="none">
            <a:spAutoFit/>
          </a:bodyPr>
          <a:lstStyle/>
          <a:p>
            <a:pPr>
              <a:defRPr b="1" sz="1600">
                <a:solidFill>
                  <a:srgbClr val="142037"/>
                </a:solidFill>
              </a:defRPr>
            </a:pPr>
            <a:r>
              <a:rPr/>
              <a:t>Kimi K3 Strengths</a:t>
            </a:r>
          </a:p>
        </p:txBody>
      </p:sp>
      <p:sp>
        <p:nvSpPr>
          <p:cNvPr id="13" name="TextBox 12"/>
          <p:cNvSpPr txBox="1"/>
          <p:nvPr/>
        </p:nvSpPr>
        <p:spPr>
          <a:xfrm>
            <a:off x="7772400" y="3867912"/>
            <a:ext cx="3520439" cy="566927"/>
          </a:xfrm>
          <a:prstGeom prst="rect">
            <a:avLst/>
          </a:prstGeom>
          <a:noFill/>
        </p:spPr>
        <p:txBody>
          <a:bodyPr wrap="square">
            <a:spAutoFit/>
          </a:bodyPr>
          <a:lstStyle/>
          <a:p>
            <a:pPr>
              <a:defRPr sz="1200">
                <a:solidFill>
                  <a:srgbClr val="5F6978"/>
                </a:solidFill>
              </a:defRPr>
            </a:pPr>
            <a:r>
              <a:rPr/>
              <a:t>On this frozen test set, adherence to evidence tracking, unresolved handling, and the RawID ledger was substantially stronger.</a:t>
            </a:r>
          </a:p>
        </p:txBody>
      </p:sp>
      <p:sp>
        <p:nvSpPr>
          <p:cNvPr id="14" name="Rounded Rectangle 13"/>
          <p:cNvSpPr/>
          <p:nvPr/>
        </p:nvSpPr>
        <p:spPr>
          <a:xfrm>
            <a:off x="7543800" y="4800600"/>
            <a:ext cx="3931920" cy="10515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4800600"/>
            <a:ext cx="73152" cy="105156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4983480"/>
            <a:ext cx="3520439" cy="411480"/>
          </a:xfrm>
          <a:prstGeom prst="rect">
            <a:avLst/>
          </a:prstGeom>
          <a:noFill/>
        </p:spPr>
        <p:txBody>
          <a:bodyPr wrap="none">
            <a:spAutoFit/>
          </a:bodyPr>
          <a:lstStyle/>
          <a:p>
            <a:pPr>
              <a:defRPr b="1" sz="1600">
                <a:solidFill>
                  <a:srgbClr val="142037"/>
                </a:solidFill>
              </a:defRPr>
            </a:pPr>
            <a:r>
              <a:rPr/>
              <a:t>Fairness Limitation</a:t>
            </a:r>
          </a:p>
        </p:txBody>
      </p:sp>
      <p:sp>
        <p:nvSpPr>
          <p:cNvPr id="17" name="TextBox 16"/>
          <p:cNvSpPr txBox="1"/>
          <p:nvPr/>
        </p:nvSpPr>
        <p:spPr>
          <a:xfrm>
            <a:off x="7772400" y="5513832"/>
            <a:ext cx="3520439" cy="201167"/>
          </a:xfrm>
          <a:prstGeom prst="rect">
            <a:avLst/>
          </a:prstGeom>
          <a:noFill/>
        </p:spPr>
        <p:txBody>
          <a:bodyPr wrap="square">
            <a:spAutoFit/>
          </a:bodyPr>
          <a:lstStyle/>
          <a:p>
            <a:pPr>
              <a:defRPr sz="1200">
                <a:solidFill>
                  <a:srgbClr val="5F6978"/>
                </a:solidFill>
              </a:defRPr>
            </a:pPr>
            <a:r>
              <a:rPr/>
              <a:t>Kimi was evaluated through Hugging Face, while Qwen was evaluated locally. This is a task-quality comparison, not a pure speed benchmark.</a:t>
            </a:r>
          </a:p>
        </p:txBody>
      </p:sp>
      <p:sp>
        <p:nvSpPr>
          <p:cNvPr id="18" name="TextBox 17"/>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400" b="1">
                <a:solidFill>
                  <a:srgbClr val="142037"/>
                </a:solidFill>
              </a:defRPr>
            </a:pPr>
            <a:r>
              <a:t>9. Kimi K3 On-Premises Deployment: Excellent Quality, Supercluster-Scale Infrastructure</a:t>
            </a:r>
          </a:p>
        </p:txBody>
      </p:sp>
      <p:sp>
        <p:nvSpPr>
          <p:cNvPr id="4" name="TextBox 3"/>
          <p:cNvSpPr txBox="1"/>
          <p:nvPr/>
        </p:nvSpPr>
        <p:spPr>
          <a:xfrm>
            <a:off x="621792" y="914400"/>
            <a:ext cx="10881360" cy="384048"/>
          </a:xfrm>
          <a:prstGeom prst="rect">
            <a:avLst/>
          </a:prstGeom>
          <a:noFill/>
        </p:spPr>
        <p:txBody>
          <a:bodyPr wrap="none">
            <a:spAutoFit/>
          </a:bodyPr>
          <a:lstStyle/>
          <a:p>
            <a:pPr>
              <a:defRPr sz="1100">
                <a:solidFill>
                  <a:srgbClr val="5F6978"/>
                </a:solidFill>
              </a:defRPr>
            </a:pPr>
            <a:r>
              <a:t>2.8T total parameters / 104B activated per token — sparse compute does not mean a small memory footprint.</a:t>
            </a:r>
          </a:p>
        </p:txBody>
      </p:sp>
      <p:sp>
        <p:nvSpPr>
          <p:cNvPr id="5" name="Rounded Rectangle 4"/>
          <p:cNvSpPr/>
          <p:nvPr/>
        </p:nvSpPr>
        <p:spPr>
          <a:xfrm>
            <a:off x="594360" y="1371600"/>
            <a:ext cx="3429000" cy="1874519"/>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71600"/>
            <a:ext cx="73152" cy="1874519"/>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8760"/>
            <a:ext cx="3044952" cy="384048"/>
          </a:xfrm>
          <a:prstGeom prst="rect">
            <a:avLst/>
          </a:prstGeom>
          <a:noFill/>
        </p:spPr>
        <p:txBody>
          <a:bodyPr wrap="none">
            <a:spAutoFit/>
          </a:bodyPr>
          <a:lstStyle/>
          <a:p>
            <a:pPr>
              <a:defRPr sz="1400" b="1">
                <a:solidFill>
                  <a:srgbClr val="142037"/>
                </a:solidFill>
              </a:defRPr>
            </a:pPr>
            <a:r>
              <a:t>Model Scale</a:t>
            </a:r>
          </a:p>
        </p:txBody>
      </p:sp>
      <p:sp>
        <p:nvSpPr>
          <p:cNvPr id="8" name="TextBox 7"/>
          <p:cNvSpPr txBox="1"/>
          <p:nvPr/>
        </p:nvSpPr>
        <p:spPr>
          <a:xfrm>
            <a:off x="804672" y="1938528"/>
            <a:ext cx="3044952" cy="530352"/>
          </a:xfrm>
          <a:prstGeom prst="rect">
            <a:avLst/>
          </a:prstGeom>
          <a:noFill/>
        </p:spPr>
        <p:txBody>
          <a:bodyPr wrap="none">
            <a:spAutoFit/>
          </a:bodyPr>
          <a:lstStyle/>
          <a:p>
            <a:pPr>
              <a:defRPr sz="2300" b="1">
                <a:solidFill>
                  <a:srgbClr val="2962FF"/>
                </a:solidFill>
              </a:defRPr>
            </a:pPr>
            <a:r>
              <a:t>2.8T total / 104B active</a:t>
            </a:r>
          </a:p>
        </p:txBody>
      </p:sp>
      <p:sp>
        <p:nvSpPr>
          <p:cNvPr id="9" name="TextBox 8"/>
          <p:cNvSpPr txBox="1"/>
          <p:nvPr/>
        </p:nvSpPr>
        <p:spPr>
          <a:xfrm>
            <a:off x="804672" y="2523744"/>
            <a:ext cx="3044952" cy="612647"/>
          </a:xfrm>
          <a:prstGeom prst="rect">
            <a:avLst/>
          </a:prstGeom>
          <a:noFill/>
        </p:spPr>
        <p:txBody>
          <a:bodyPr wrap="none">
            <a:spAutoFit/>
          </a:bodyPr>
          <a:lstStyle/>
          <a:p>
            <a:pPr>
              <a:defRPr sz="1100">
                <a:solidFill>
                  <a:srgbClr val="5F6978"/>
                </a:solidFill>
              </a:defRPr>
            </a:pPr>
            <a:r>
              <a:t>Kimi K3 is a very large MoE model: about 2.8T total parameters, 104B activated per token, 896 experts, and 16 selected experts per token. Sparse activation reduces compute, not the total weight footprint.</a:t>
            </a:r>
          </a:p>
        </p:txBody>
      </p:sp>
      <p:sp>
        <p:nvSpPr>
          <p:cNvPr id="10" name="Rounded Rectangle 9"/>
          <p:cNvSpPr/>
          <p:nvPr/>
        </p:nvSpPr>
        <p:spPr>
          <a:xfrm>
            <a:off x="4370832" y="1371600"/>
            <a:ext cx="3429000" cy="1874519"/>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371600"/>
            <a:ext cx="73152" cy="1874519"/>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1508760"/>
            <a:ext cx="3044952" cy="384048"/>
          </a:xfrm>
          <a:prstGeom prst="rect">
            <a:avLst/>
          </a:prstGeom>
          <a:noFill/>
        </p:spPr>
        <p:txBody>
          <a:bodyPr wrap="none">
            <a:spAutoFit/>
          </a:bodyPr>
          <a:lstStyle/>
          <a:p>
            <a:pPr>
              <a:defRPr sz="1400" b="1">
                <a:solidFill>
                  <a:srgbClr val="142037"/>
                </a:solidFill>
              </a:defRPr>
            </a:pPr>
            <a:r>
              <a:t>Weight-Memory Scale</a:t>
            </a:r>
          </a:p>
        </p:txBody>
      </p:sp>
      <p:sp>
        <p:nvSpPr>
          <p:cNvPr id="13" name="TextBox 12"/>
          <p:cNvSpPr txBox="1"/>
          <p:nvPr/>
        </p:nvSpPr>
        <p:spPr>
          <a:xfrm>
            <a:off x="4581144" y="1938528"/>
            <a:ext cx="3044952" cy="530352"/>
          </a:xfrm>
          <a:prstGeom prst="rect">
            <a:avLst/>
          </a:prstGeom>
          <a:noFill/>
        </p:spPr>
        <p:txBody>
          <a:bodyPr wrap="none">
            <a:spAutoFit/>
          </a:bodyPr>
          <a:lstStyle/>
          <a:p>
            <a:pPr>
              <a:defRPr sz="2300" b="1">
                <a:solidFill>
                  <a:srgbClr val="F57C00"/>
                </a:solidFill>
              </a:defRPr>
            </a:pPr>
            <a:r>
              <a:t>≈ 1.4 TB raw 4-bit</a:t>
            </a:r>
          </a:p>
        </p:txBody>
      </p:sp>
      <p:sp>
        <p:nvSpPr>
          <p:cNvPr id="14" name="TextBox 13"/>
          <p:cNvSpPr txBox="1"/>
          <p:nvPr/>
        </p:nvSpPr>
        <p:spPr>
          <a:xfrm>
            <a:off x="4581144" y="2523744"/>
            <a:ext cx="3044952" cy="612647"/>
          </a:xfrm>
          <a:prstGeom prst="rect">
            <a:avLst/>
          </a:prstGeom>
          <a:noFill/>
        </p:spPr>
        <p:txBody>
          <a:bodyPr wrap="none">
            <a:spAutoFit/>
          </a:bodyPr>
          <a:lstStyle/>
          <a:p>
            <a:pPr>
              <a:defRPr sz="1100">
                <a:solidFill>
                  <a:srgbClr val="5F6978"/>
                </a:solidFill>
              </a:defRPr>
            </a:pPr>
            <a:r>
              <a:t>A crude 4-bit weight-only lower-bound estimate is 2.8T × 0.5 byte ≈ 1.4 TB. K3 uses MXFP4 weights; real GPU memory must also cover format overhead, KV cache, workspace, buffers, and serving headroom.</a:t>
            </a:r>
          </a:p>
        </p:txBody>
      </p:sp>
      <p:sp>
        <p:nvSpPr>
          <p:cNvPr id="15" name="Rounded Rectangle 14"/>
          <p:cNvSpPr/>
          <p:nvPr/>
        </p:nvSpPr>
        <p:spPr>
          <a:xfrm>
            <a:off x="8138160" y="1371600"/>
            <a:ext cx="3429000" cy="1874519"/>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71600"/>
            <a:ext cx="73152" cy="1874519"/>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508760"/>
            <a:ext cx="3044952" cy="384048"/>
          </a:xfrm>
          <a:prstGeom prst="rect">
            <a:avLst/>
          </a:prstGeom>
          <a:noFill/>
        </p:spPr>
        <p:txBody>
          <a:bodyPr wrap="none">
            <a:spAutoFit/>
          </a:bodyPr>
          <a:lstStyle/>
          <a:p>
            <a:pPr>
              <a:defRPr sz="1400" b="1">
                <a:solidFill>
                  <a:srgbClr val="142037"/>
                </a:solidFill>
              </a:defRPr>
            </a:pPr>
            <a:r>
              <a:t>Beyond “Adding More GPUs”</a:t>
            </a:r>
          </a:p>
        </p:txBody>
      </p:sp>
      <p:sp>
        <p:nvSpPr>
          <p:cNvPr id="18" name="TextBox 17"/>
          <p:cNvSpPr txBox="1"/>
          <p:nvPr/>
        </p:nvSpPr>
        <p:spPr>
          <a:xfrm>
            <a:off x="8348472" y="1938528"/>
            <a:ext cx="3044952" cy="530352"/>
          </a:xfrm>
          <a:prstGeom prst="rect">
            <a:avLst/>
          </a:prstGeom>
          <a:noFill/>
        </p:spPr>
        <p:txBody>
          <a:bodyPr wrap="none">
            <a:spAutoFit/>
          </a:bodyPr>
          <a:lstStyle/>
          <a:p>
            <a:pPr>
              <a:defRPr sz="2300" b="1">
                <a:solidFill>
                  <a:srgbClr val="D32F2F"/>
                </a:solidFill>
              </a:defRPr>
            </a:pPr>
            <a:r>
              <a:t>Cluster-scale</a:t>
            </a:r>
          </a:p>
        </p:txBody>
      </p:sp>
      <p:sp>
        <p:nvSpPr>
          <p:cNvPr id="19" name="TextBox 18"/>
          <p:cNvSpPr txBox="1"/>
          <p:nvPr/>
        </p:nvSpPr>
        <p:spPr>
          <a:xfrm>
            <a:off x="8348472" y="2523744"/>
            <a:ext cx="3044952" cy="612647"/>
          </a:xfrm>
          <a:prstGeom prst="rect">
            <a:avLst/>
          </a:prstGeom>
          <a:noFill/>
        </p:spPr>
        <p:txBody>
          <a:bodyPr wrap="none">
            <a:spAutoFit/>
          </a:bodyPr>
          <a:lstStyle/>
          <a:p>
            <a:pPr>
              <a:defRPr sz="1100">
                <a:solidFill>
                  <a:srgbClr val="5F6978"/>
                </a:solidFill>
              </a:defRPr>
            </a:pPr>
            <a:r>
              <a:t>Once aggregate VRAM reaches the terabyte scale, weights must be distributed across many accelerators. Deployment moves from single-server inference to multi-GPU, multi-node distributed serving.</a:t>
            </a:r>
          </a:p>
        </p:txBody>
      </p:sp>
      <p:sp>
        <p:nvSpPr>
          <p:cNvPr id="20" name="Rounded Rectangle 19"/>
          <p:cNvSpPr/>
          <p:nvPr/>
        </p:nvSpPr>
        <p:spPr>
          <a:xfrm>
            <a:off x="594360" y="3611880"/>
            <a:ext cx="3429000" cy="19659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611880"/>
            <a:ext cx="73152" cy="196596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749040"/>
            <a:ext cx="3044952" cy="384048"/>
          </a:xfrm>
          <a:prstGeom prst="rect">
            <a:avLst/>
          </a:prstGeom>
          <a:noFill/>
        </p:spPr>
        <p:txBody>
          <a:bodyPr wrap="none">
            <a:spAutoFit/>
          </a:bodyPr>
          <a:lstStyle/>
          <a:p>
            <a:pPr>
              <a:defRPr sz="1400" b="1">
                <a:solidFill>
                  <a:srgbClr val="142037"/>
                </a:solidFill>
              </a:defRPr>
            </a:pPr>
            <a:r>
              <a:t>The GPU-Fabric Problem</a:t>
            </a:r>
          </a:p>
        </p:txBody>
      </p:sp>
      <p:sp>
        <p:nvSpPr>
          <p:cNvPr id="23" name="TextBox 22"/>
          <p:cNvSpPr txBox="1"/>
          <p:nvPr/>
        </p:nvSpPr>
        <p:spPr>
          <a:xfrm>
            <a:off x="804672" y="4178808"/>
            <a:ext cx="3044952" cy="1289303"/>
          </a:xfrm>
          <a:prstGeom prst="rect">
            <a:avLst/>
          </a:prstGeom>
          <a:noFill/>
        </p:spPr>
        <p:txBody>
          <a:bodyPr wrap="none">
            <a:spAutoFit/>
          </a:bodyPr>
          <a:lstStyle/>
          <a:p>
            <a:pPr>
              <a:defRPr sz="1100">
                <a:solidFill>
                  <a:srgbClr val="5F6978"/>
                </a:solidFill>
              </a:defRPr>
            </a:pPr>
            <a:r>
              <a:t>Large GPU arrays require NVLink/NVSwitch or high-speed InfiniBand/RDMA, plus tensor/expert parallelism, all-to-all expert routing, cross-node synchronization, and topology-aware placement.</a:t>
            </a:r>
          </a:p>
        </p:txBody>
      </p:sp>
      <p:sp>
        <p:nvSpPr>
          <p:cNvPr id="24" name="Rounded Rectangle 23"/>
          <p:cNvSpPr/>
          <p:nvPr/>
        </p:nvSpPr>
        <p:spPr>
          <a:xfrm>
            <a:off x="4370832" y="3611880"/>
            <a:ext cx="3429000" cy="19659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70832" y="3611880"/>
            <a:ext cx="73152" cy="196596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81144" y="3749040"/>
            <a:ext cx="3044952" cy="384048"/>
          </a:xfrm>
          <a:prstGeom prst="rect">
            <a:avLst/>
          </a:prstGeom>
          <a:noFill/>
        </p:spPr>
        <p:txBody>
          <a:bodyPr wrap="none">
            <a:spAutoFit/>
          </a:bodyPr>
          <a:lstStyle/>
          <a:p>
            <a:pPr>
              <a:defRPr sz="1400" b="1">
                <a:solidFill>
                  <a:srgbClr val="142037"/>
                </a:solidFill>
              </a:defRPr>
            </a:pPr>
            <a:r>
              <a:t>Hidden Enterprise Cost</a:t>
            </a:r>
          </a:p>
        </p:txBody>
      </p:sp>
      <p:sp>
        <p:nvSpPr>
          <p:cNvPr id="27" name="TextBox 26"/>
          <p:cNvSpPr txBox="1"/>
          <p:nvPr/>
        </p:nvSpPr>
        <p:spPr>
          <a:xfrm>
            <a:off x="4581144" y="4178808"/>
            <a:ext cx="3044952" cy="1289303"/>
          </a:xfrm>
          <a:prstGeom prst="rect">
            <a:avLst/>
          </a:prstGeom>
          <a:noFill/>
        </p:spPr>
        <p:txBody>
          <a:bodyPr wrap="none">
            <a:spAutoFit/>
          </a:bodyPr>
          <a:lstStyle/>
          <a:p>
            <a:pPr>
              <a:defRPr sz="1100">
                <a:solidFill>
                  <a:srgbClr val="5F6978"/>
                </a:solidFill>
              </a:defRPr>
            </a:pPr>
            <a:r>
              <a:t>GPU acquisition is only the beginning: power, cooling, network fabric, rack space, distributed runtimes, observability, fault tolerance, and specialized cluster-operations expertise all become material costs.</a:t>
            </a:r>
          </a:p>
        </p:txBody>
      </p:sp>
      <p:sp>
        <p:nvSpPr>
          <p:cNvPr id="28" name="Rounded Rectangle 27"/>
          <p:cNvSpPr/>
          <p:nvPr/>
        </p:nvSpPr>
        <p:spPr>
          <a:xfrm>
            <a:off x="8138160" y="3611880"/>
            <a:ext cx="3429000" cy="19659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3611880"/>
            <a:ext cx="73152" cy="1965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2" y="3749040"/>
            <a:ext cx="3044952" cy="384048"/>
          </a:xfrm>
          <a:prstGeom prst="rect">
            <a:avLst/>
          </a:prstGeom>
          <a:noFill/>
        </p:spPr>
        <p:txBody>
          <a:bodyPr wrap="none">
            <a:spAutoFit/>
          </a:bodyPr>
          <a:lstStyle/>
          <a:p>
            <a:pPr>
              <a:defRPr sz="1400" b="1">
                <a:solidFill>
                  <a:srgbClr val="142037"/>
                </a:solidFill>
              </a:defRPr>
            </a:pPr>
            <a:r>
              <a:t>Practical Conclusion</a:t>
            </a:r>
          </a:p>
        </p:txBody>
      </p:sp>
      <p:sp>
        <p:nvSpPr>
          <p:cNvPr id="31" name="TextBox 30"/>
          <p:cNvSpPr txBox="1"/>
          <p:nvPr/>
        </p:nvSpPr>
        <p:spPr>
          <a:xfrm>
            <a:off x="8348472" y="4178808"/>
            <a:ext cx="3044952" cy="1289303"/>
          </a:xfrm>
          <a:prstGeom prst="rect">
            <a:avLst/>
          </a:prstGeom>
          <a:noFill/>
        </p:spPr>
        <p:txBody>
          <a:bodyPr wrap="none">
            <a:spAutoFit/>
          </a:bodyPr>
          <a:lstStyle/>
          <a:p>
            <a:pPr>
              <a:defRPr sz="1100">
                <a:solidFill>
                  <a:srgbClr val="5F6978"/>
                </a:solidFill>
              </a:defRPr>
            </a:pPr>
            <a:r>
              <a:t>K3 was nearly perfect in our hosted task test, but full on-premises deployment is unrealistic for most conventional enterprises. Without an existing large AI cluster, hosted inference is more practical; strict on-prem use favors a smaller model.</a:t>
            </a:r>
          </a:p>
        </p:txBody>
      </p:sp>
      <p:sp>
        <p:nvSpPr>
          <p:cNvPr id="32" name="TextBox 31"/>
          <p:cNvSpPr txBox="1"/>
          <p:nvPr/>
        </p:nvSpPr>
        <p:spPr>
          <a:xfrm>
            <a:off x="10835640" y="6446520"/>
            <a:ext cx="731520" cy="228600"/>
          </a:xfrm>
          <a:prstGeom prst="rect">
            <a:avLst/>
          </a:prstGeom>
          <a:noFill/>
        </p:spPr>
        <p:txBody>
          <a:bodyPr wrap="none">
            <a:spAutoFit/>
          </a:bodyPr>
          <a:lstStyle/>
          <a:p>
            <a:pPr algn="r">
              <a:defRPr sz="900">
                <a:solidFill>
                  <a:srgbClr val="5F6978"/>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10. Recommended Architecture: Let the LLM Reason and the Software Enforce</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Do not ask the model to be both the reasoner and the auditor.</a:t>
            </a:r>
          </a:p>
        </p:txBody>
      </p:sp>
      <p:sp>
        <p:nvSpPr>
          <p:cNvPr id="5" name="Rounded Rectangle 4"/>
          <p:cNvSpPr/>
          <p:nvPr/>
        </p:nvSpPr>
        <p:spPr>
          <a:xfrm>
            <a:off x="548640" y="2103120"/>
            <a:ext cx="1417320" cy="960120"/>
          </a:xfrm>
          <a:prstGeom prst="round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2331720"/>
            <a:ext cx="1271016" cy="457200"/>
          </a:xfrm>
          <a:prstGeom prst="rect">
            <a:avLst/>
          </a:prstGeom>
          <a:noFill/>
        </p:spPr>
        <p:txBody>
          <a:bodyPr wrap="none">
            <a:spAutoFit/>
          </a:bodyPr>
          <a:lstStyle/>
          <a:p>
            <a:pPr algn="ctr">
              <a:defRPr sz="1200" b="1">
                <a:solidFill>
                  <a:srgbClr val="FFFFFF"/>
                </a:solidFill>
              </a:defRPr>
            </a:pPr>
            <a:r>
              <a:rPr/>
              <a:t>Raw SMS</a:t>
            </a:r>
            <a:br/>
            <a:r>
              <a:rPr/>
              <a:t>Fragments</a:t>
            </a:r>
          </a:p>
        </p:txBody>
      </p:sp>
      <p:sp>
        <p:nvSpPr>
          <p:cNvPr id="7" name="Right Arrow 6"/>
          <p:cNvSpPr/>
          <p:nvPr/>
        </p:nvSpPr>
        <p:spPr>
          <a:xfrm>
            <a:off x="1965960" y="2450591"/>
            <a:ext cx="457200" cy="256032"/>
          </a:xfrm>
          <a:prstGeom prst="rightArrow">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23160" y="2103120"/>
            <a:ext cx="1417320" cy="96012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6312" y="2331720"/>
            <a:ext cx="1271016" cy="457200"/>
          </a:xfrm>
          <a:prstGeom prst="rect">
            <a:avLst/>
          </a:prstGeom>
          <a:noFill/>
        </p:spPr>
        <p:txBody>
          <a:bodyPr wrap="none">
            <a:spAutoFit/>
          </a:bodyPr>
          <a:lstStyle/>
          <a:p>
            <a:pPr algn="ctr">
              <a:defRPr sz="1200" b="1">
                <a:solidFill>
                  <a:srgbClr val="FFFFFF"/>
                </a:solidFill>
              </a:defRPr>
            </a:pPr>
            <a:r>
              <a:rPr/>
              <a:t>Candidate</a:t>
            </a:r>
            <a:br/>
            <a:r>
              <a:rPr/>
              <a:t>Generator</a:t>
            </a:r>
          </a:p>
        </p:txBody>
      </p:sp>
      <p:sp>
        <p:nvSpPr>
          <p:cNvPr id="10" name="Right Arrow 9"/>
          <p:cNvSpPr/>
          <p:nvPr/>
        </p:nvSpPr>
        <p:spPr>
          <a:xfrm>
            <a:off x="3840480" y="2450591"/>
            <a:ext cx="457200" cy="256032"/>
          </a:xfrm>
          <a:prstGeom prst="rightArrow">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2103120"/>
            <a:ext cx="1417320" cy="96012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2" y="2331720"/>
            <a:ext cx="1271016" cy="457200"/>
          </a:xfrm>
          <a:prstGeom prst="rect">
            <a:avLst/>
          </a:prstGeom>
          <a:noFill/>
        </p:spPr>
        <p:txBody>
          <a:bodyPr wrap="none">
            <a:spAutoFit/>
          </a:bodyPr>
          <a:lstStyle/>
          <a:p>
            <a:pPr algn="ctr">
              <a:defRPr sz="1200" b="1">
                <a:solidFill>
                  <a:srgbClr val="FFFFFF"/>
                </a:solidFill>
              </a:defRPr>
            </a:pPr>
            <a:r>
              <a:rPr/>
              <a:t>LLM</a:t>
            </a:r>
            <a:br/>
            <a:r>
              <a:rPr/>
              <a:t>Assembler</a:t>
            </a:r>
          </a:p>
        </p:txBody>
      </p:sp>
      <p:sp>
        <p:nvSpPr>
          <p:cNvPr id="13" name="Right Arrow 12"/>
          <p:cNvSpPr/>
          <p:nvPr/>
        </p:nvSpPr>
        <p:spPr>
          <a:xfrm>
            <a:off x="5715000" y="2450591"/>
            <a:ext cx="457200" cy="256032"/>
          </a:xfrm>
          <a:prstGeom prst="rightArrow">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72200" y="2103120"/>
            <a:ext cx="1417320" cy="960120"/>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5352" y="2331720"/>
            <a:ext cx="1271016" cy="457200"/>
          </a:xfrm>
          <a:prstGeom prst="rect">
            <a:avLst/>
          </a:prstGeom>
          <a:noFill/>
        </p:spPr>
        <p:txBody>
          <a:bodyPr wrap="none">
            <a:spAutoFit/>
          </a:bodyPr>
          <a:lstStyle/>
          <a:p>
            <a:pPr algn="ctr">
              <a:defRPr sz="1200" b="1">
                <a:solidFill>
                  <a:srgbClr val="FFFFFF"/>
                </a:solidFill>
              </a:defRPr>
            </a:pPr>
            <a:r>
              <a:rPr/>
              <a:t>Deterministic</a:t>
            </a:r>
            <a:br/>
            <a:r>
              <a:rPr/>
              <a:t>Validator</a:t>
            </a:r>
          </a:p>
        </p:txBody>
      </p:sp>
      <p:sp>
        <p:nvSpPr>
          <p:cNvPr id="16" name="Right Arrow 15"/>
          <p:cNvSpPr/>
          <p:nvPr/>
        </p:nvSpPr>
        <p:spPr>
          <a:xfrm>
            <a:off x="7589520" y="2450591"/>
            <a:ext cx="457200" cy="256032"/>
          </a:xfrm>
          <a:prstGeom prst="rightArrow">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20" y="2103120"/>
            <a:ext cx="1417320" cy="960120"/>
          </a:xfrm>
          <a:prstGeom prst="roundRect">
            <a:avLst/>
          </a:prstGeom>
          <a:solidFill>
            <a:srgbClr val="14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9872" y="2331720"/>
            <a:ext cx="1271016" cy="457200"/>
          </a:xfrm>
          <a:prstGeom prst="rect">
            <a:avLst/>
          </a:prstGeom>
          <a:noFill/>
        </p:spPr>
        <p:txBody>
          <a:bodyPr wrap="none">
            <a:spAutoFit/>
          </a:bodyPr>
          <a:lstStyle/>
          <a:p>
            <a:pPr algn="ctr">
              <a:defRPr sz="1200" b="1">
                <a:solidFill>
                  <a:srgbClr val="FFFFFF"/>
                </a:solidFill>
              </a:defRPr>
            </a:pPr>
            <a:r>
              <a:rPr/>
              <a:t>Human Review</a:t>
            </a:r>
            <a:br/>
            <a:r>
              <a:rPr/>
              <a:t>Gate</a:t>
            </a:r>
          </a:p>
        </p:txBody>
      </p:sp>
      <p:sp>
        <p:nvSpPr>
          <p:cNvPr id="19" name="Right Arrow 18"/>
          <p:cNvSpPr/>
          <p:nvPr/>
        </p:nvSpPr>
        <p:spPr>
          <a:xfrm>
            <a:off x="9464040" y="2450591"/>
            <a:ext cx="457200" cy="256032"/>
          </a:xfrm>
          <a:prstGeom prst="rightArrow">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921240" y="2103120"/>
            <a:ext cx="1417320" cy="9601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94392" y="2331720"/>
            <a:ext cx="1271016" cy="457200"/>
          </a:xfrm>
          <a:prstGeom prst="rect">
            <a:avLst/>
          </a:prstGeom>
          <a:noFill/>
        </p:spPr>
        <p:txBody>
          <a:bodyPr wrap="none">
            <a:spAutoFit/>
          </a:bodyPr>
          <a:lstStyle/>
          <a:p>
            <a:pPr algn="ctr">
              <a:defRPr sz="1200" b="1">
                <a:solidFill>
                  <a:srgbClr val="FFFFFF"/>
                </a:solidFill>
              </a:defRPr>
            </a:pPr>
            <a:r>
              <a:rPr/>
              <a:t>Canonical</a:t>
            </a:r>
            <a:br/>
            <a:r>
              <a:rPr/>
              <a:t>Message DB</a:t>
            </a:r>
          </a:p>
        </p:txBody>
      </p:sp>
      <p:sp>
        <p:nvSpPr>
          <p:cNvPr id="22" name="Rounded Rectangle 21"/>
          <p:cNvSpPr/>
          <p:nvPr/>
        </p:nvSpPr>
        <p:spPr>
          <a:xfrm>
            <a:off x="914400" y="4160520"/>
            <a:ext cx="3108960" cy="12801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160520"/>
            <a:ext cx="73152" cy="128016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343400"/>
            <a:ext cx="2697479" cy="411480"/>
          </a:xfrm>
          <a:prstGeom prst="rect">
            <a:avLst/>
          </a:prstGeom>
          <a:noFill/>
        </p:spPr>
        <p:txBody>
          <a:bodyPr wrap="none">
            <a:spAutoFit/>
          </a:bodyPr>
          <a:lstStyle/>
          <a:p>
            <a:pPr>
              <a:defRPr b="1" sz="1600">
                <a:solidFill>
                  <a:srgbClr val="142037"/>
                </a:solidFill>
              </a:defRPr>
            </a:pPr>
            <a:r>
              <a:rPr/>
              <a:t>Validator Must Check</a:t>
            </a:r>
          </a:p>
        </p:txBody>
      </p:sp>
      <p:sp>
        <p:nvSpPr>
          <p:cNvPr id="25" name="TextBox 24"/>
          <p:cNvSpPr txBox="1"/>
          <p:nvPr/>
        </p:nvSpPr>
        <p:spPr>
          <a:xfrm>
            <a:off x="1143000" y="4873752"/>
            <a:ext cx="2697479" cy="429767"/>
          </a:xfrm>
          <a:prstGeom prst="rect">
            <a:avLst/>
          </a:prstGeom>
          <a:noFill/>
        </p:spPr>
        <p:txBody>
          <a:bodyPr wrap="square">
            <a:spAutoFit/>
          </a:bodyPr>
          <a:lstStyle/>
          <a:p>
            <a:pPr>
              <a:defRPr sz="1200">
                <a:solidFill>
                  <a:srgbClr val="5F6978"/>
                </a:solidFill>
              </a:defRPr>
            </a:pPr>
            <a:r>
              <a:rPr/>
              <a:t>JSON schema, RawID uniqueness, coverage, referential integrity, and reversible traceability.</a:t>
            </a:r>
          </a:p>
        </p:txBody>
      </p:sp>
      <p:sp>
        <p:nvSpPr>
          <p:cNvPr id="26" name="Rounded Rectangle 25"/>
          <p:cNvSpPr/>
          <p:nvPr/>
        </p:nvSpPr>
        <p:spPr>
          <a:xfrm>
            <a:off x="4526280" y="4160520"/>
            <a:ext cx="3108960" cy="12801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26280" y="4160520"/>
            <a:ext cx="73152" cy="128016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343400"/>
            <a:ext cx="2697479" cy="411480"/>
          </a:xfrm>
          <a:prstGeom prst="rect">
            <a:avLst/>
          </a:prstGeom>
          <a:noFill/>
        </p:spPr>
        <p:txBody>
          <a:bodyPr wrap="none">
            <a:spAutoFit/>
          </a:bodyPr>
          <a:lstStyle/>
          <a:p>
            <a:pPr>
              <a:defRPr b="1" sz="1600">
                <a:solidFill>
                  <a:srgbClr val="142037"/>
                </a:solidFill>
              </a:defRPr>
            </a:pPr>
            <a:r>
              <a:rPr/>
              <a:t>ReviewRequired</a:t>
            </a:r>
          </a:p>
        </p:txBody>
      </p:sp>
      <p:sp>
        <p:nvSpPr>
          <p:cNvPr id="29" name="TextBox 28"/>
          <p:cNvSpPr txBox="1"/>
          <p:nvPr/>
        </p:nvSpPr>
        <p:spPr>
          <a:xfrm>
            <a:off x="4754880" y="4873752"/>
            <a:ext cx="2697479" cy="429767"/>
          </a:xfrm>
          <a:prstGeom prst="rect">
            <a:avLst/>
          </a:prstGeom>
          <a:noFill/>
        </p:spPr>
        <p:txBody>
          <a:bodyPr wrap="square">
            <a:spAutoFit/>
          </a:bodyPr>
          <a:lstStyle/>
          <a:p>
            <a:pPr>
              <a:defRPr sz="1200">
                <a:solidFill>
                  <a:srgbClr val="5F6978"/>
                </a:solidFill>
              </a:defRPr>
            </a:pPr>
            <a:r>
              <a:rPr/>
              <a:t>Cross-date links, excessive time gaps, multiple equally plausible chains, missing segments, and conflicts must enter human review.</a:t>
            </a:r>
          </a:p>
        </p:txBody>
      </p:sp>
      <p:sp>
        <p:nvSpPr>
          <p:cNvPr id="30" name="Rounded Rectangle 29"/>
          <p:cNvSpPr/>
          <p:nvPr/>
        </p:nvSpPr>
        <p:spPr>
          <a:xfrm>
            <a:off x="8138160" y="4160520"/>
            <a:ext cx="3108960" cy="12801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4160520"/>
            <a:ext cx="73152" cy="12801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66760" y="4343400"/>
            <a:ext cx="2697479" cy="411480"/>
          </a:xfrm>
          <a:prstGeom prst="rect">
            <a:avLst/>
          </a:prstGeom>
          <a:noFill/>
        </p:spPr>
        <p:txBody>
          <a:bodyPr wrap="none">
            <a:spAutoFit/>
          </a:bodyPr>
          <a:lstStyle/>
          <a:p>
            <a:pPr>
              <a:defRPr b="1" sz="1600">
                <a:solidFill>
                  <a:srgbClr val="142037"/>
                </a:solidFill>
              </a:defRPr>
            </a:pPr>
            <a:r>
              <a:rPr/>
              <a:t>Replaceable Model Layer</a:t>
            </a:r>
          </a:p>
        </p:txBody>
      </p:sp>
      <p:sp>
        <p:nvSpPr>
          <p:cNvPr id="33" name="TextBox 32"/>
          <p:cNvSpPr txBox="1"/>
          <p:nvPr/>
        </p:nvSpPr>
        <p:spPr>
          <a:xfrm>
            <a:off x="8366760" y="4873752"/>
            <a:ext cx="2697479" cy="429767"/>
          </a:xfrm>
          <a:prstGeom prst="rect">
            <a:avLst/>
          </a:prstGeom>
          <a:noFill/>
        </p:spPr>
        <p:txBody>
          <a:bodyPr wrap="square">
            <a:spAutoFit/>
          </a:bodyPr>
          <a:lstStyle/>
          <a:p>
            <a:pPr>
              <a:defRPr sz="1200">
                <a:solidFill>
                  <a:srgbClr val="5F6978"/>
                </a:solidFill>
              </a:defRPr>
            </a:pPr>
            <a:r>
              <a:rPr/>
              <a:t>Qwen and Kimi can be A/B tested behind the same interface, keeping governance independent of any single model.</a:t>
            </a:r>
          </a:p>
        </p:txBody>
      </p:sp>
      <p:sp>
        <p:nvSpPr>
          <p:cNvPr id="34" name="TextBox 33"/>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FFFFFF"/>
                </a:solidFill>
              </a:defRPr>
            </a:pPr>
            <a:r>
              <a:rPr/>
              <a:t>11. Conclusion: The Deployable Unit Is a Verifiable Process</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CDD7E6"/>
                </a:solidFill>
              </a:defRPr>
            </a:pPr>
            <a:r>
              <a:rPr/>
              <a:t>Three takeaways from the experiment.</a:t>
            </a:r>
          </a:p>
        </p:txBody>
      </p:sp>
      <p:sp>
        <p:nvSpPr>
          <p:cNvPr id="5" name="Rounded Rectangle 4"/>
          <p:cNvSpPr/>
          <p:nvPr/>
        </p:nvSpPr>
        <p:spPr>
          <a:xfrm>
            <a:off x="731520" y="1600200"/>
            <a:ext cx="3337560" cy="34747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00200"/>
            <a:ext cx="73152" cy="347472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2926079" cy="411480"/>
          </a:xfrm>
          <a:prstGeom prst="rect">
            <a:avLst/>
          </a:prstGeom>
          <a:noFill/>
        </p:spPr>
        <p:txBody>
          <a:bodyPr wrap="none">
            <a:spAutoFit/>
          </a:bodyPr>
          <a:lstStyle/>
          <a:p>
            <a:pPr>
              <a:defRPr b="1" sz="1600">
                <a:solidFill>
                  <a:srgbClr val="142037"/>
                </a:solidFill>
              </a:defRPr>
            </a:pPr>
            <a:r>
              <a:rPr/>
              <a:t>01 | Synthetic → Benchmark</a:t>
            </a:r>
          </a:p>
        </p:txBody>
      </p:sp>
      <p:sp>
        <p:nvSpPr>
          <p:cNvPr id="8" name="TextBox 7"/>
          <p:cNvSpPr txBox="1"/>
          <p:nvPr/>
        </p:nvSpPr>
        <p:spPr>
          <a:xfrm>
            <a:off x="960120" y="2286000"/>
            <a:ext cx="2926079" cy="594360"/>
          </a:xfrm>
          <a:prstGeom prst="rect">
            <a:avLst/>
          </a:prstGeom>
          <a:noFill/>
        </p:spPr>
        <p:txBody>
          <a:bodyPr wrap="none">
            <a:spAutoFit/>
          </a:bodyPr>
          <a:lstStyle/>
          <a:p>
            <a:pPr>
              <a:defRPr b="1" sz="2800">
                <a:solidFill>
                  <a:srgbClr val="2962FF"/>
                </a:solidFill>
              </a:defRPr>
            </a:pPr>
            <a:r>
              <a:rPr/>
              <a:t>Repeatable</a:t>
            </a:r>
          </a:p>
        </p:txBody>
      </p:sp>
      <p:sp>
        <p:nvSpPr>
          <p:cNvPr id="9" name="TextBox 8"/>
          <p:cNvSpPr txBox="1"/>
          <p:nvPr/>
        </p:nvSpPr>
        <p:spPr>
          <a:xfrm>
            <a:off x="960120" y="2926080"/>
            <a:ext cx="2926079" cy="2011679"/>
          </a:xfrm>
          <a:prstGeom prst="rect">
            <a:avLst/>
          </a:prstGeom>
          <a:noFill/>
        </p:spPr>
        <p:txBody>
          <a:bodyPr wrap="square">
            <a:spAutoFit/>
          </a:bodyPr>
          <a:lstStyle/>
          <a:p>
            <a:pPr>
              <a:defRPr sz="1200">
                <a:solidFill>
                  <a:srgbClr val="5F6978"/>
                </a:solidFill>
              </a:defRPr>
            </a:pPr>
            <a:r>
              <a:rPr/>
              <a:t>ChatGPT helps us rapidly create controlled synthetic data and corner cases, while final scoring remains anchored to a frozen benchmark and deterministic rules.</a:t>
            </a:r>
          </a:p>
        </p:txBody>
      </p:sp>
      <p:sp>
        <p:nvSpPr>
          <p:cNvPr id="10" name="Rounded Rectangle 9"/>
          <p:cNvSpPr/>
          <p:nvPr/>
        </p:nvSpPr>
        <p:spPr>
          <a:xfrm>
            <a:off x="4434840" y="1600200"/>
            <a:ext cx="3337560" cy="34747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600200"/>
            <a:ext cx="73152" cy="347472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1783080"/>
            <a:ext cx="2926079" cy="411480"/>
          </a:xfrm>
          <a:prstGeom prst="rect">
            <a:avLst/>
          </a:prstGeom>
          <a:noFill/>
        </p:spPr>
        <p:txBody>
          <a:bodyPr wrap="none">
            <a:spAutoFit/>
          </a:bodyPr>
          <a:lstStyle/>
          <a:p>
            <a:pPr>
              <a:defRPr b="1" sz="1600">
                <a:solidFill>
                  <a:srgbClr val="142037"/>
                </a:solidFill>
              </a:defRPr>
            </a:pPr>
            <a:r>
              <a:rPr/>
              <a:t>02 | Prompt → Protocol</a:t>
            </a:r>
          </a:p>
        </p:txBody>
      </p:sp>
      <p:sp>
        <p:nvSpPr>
          <p:cNvPr id="13" name="TextBox 12"/>
          <p:cNvSpPr txBox="1"/>
          <p:nvPr/>
        </p:nvSpPr>
        <p:spPr>
          <a:xfrm>
            <a:off x="4663440" y="2286000"/>
            <a:ext cx="2926079" cy="594360"/>
          </a:xfrm>
          <a:prstGeom prst="rect">
            <a:avLst/>
          </a:prstGeom>
          <a:noFill/>
        </p:spPr>
        <p:txBody>
          <a:bodyPr wrap="none">
            <a:spAutoFit/>
          </a:bodyPr>
          <a:lstStyle/>
          <a:p>
            <a:pPr>
              <a:defRPr b="1" sz="2800">
                <a:solidFill>
                  <a:srgbClr val="F57C00"/>
                </a:solidFill>
              </a:defRPr>
            </a:pPr>
            <a:r>
              <a:rPr/>
              <a:t>Auditable</a:t>
            </a:r>
          </a:p>
        </p:txBody>
      </p:sp>
      <p:sp>
        <p:nvSpPr>
          <p:cNvPr id="14" name="TextBox 13"/>
          <p:cNvSpPr txBox="1"/>
          <p:nvPr/>
        </p:nvSpPr>
        <p:spPr>
          <a:xfrm>
            <a:off x="4663440" y="2926080"/>
            <a:ext cx="2926079" cy="2011679"/>
          </a:xfrm>
          <a:prstGeom prst="rect">
            <a:avLst/>
          </a:prstGeom>
          <a:noFill/>
        </p:spPr>
        <p:txBody>
          <a:bodyPr wrap="square">
            <a:spAutoFit/>
          </a:bodyPr>
          <a:lstStyle/>
          <a:p>
            <a:pPr>
              <a:defRPr sz="1200">
                <a:solidFill>
                  <a:srgbClr val="5F6978"/>
                </a:solidFill>
              </a:defRPr>
            </a:pPr>
            <a:r>
              <a:rPr/>
              <a:t>The goal of iterative tuning is to turn implicit research criteria into an explicit protocol: ledger, unresolved handling, traceability, and validation.</a:t>
            </a:r>
          </a:p>
        </p:txBody>
      </p:sp>
      <p:sp>
        <p:nvSpPr>
          <p:cNvPr id="15" name="Rounded Rectangle 14"/>
          <p:cNvSpPr/>
          <p:nvPr/>
        </p:nvSpPr>
        <p:spPr>
          <a:xfrm>
            <a:off x="8138160" y="1600200"/>
            <a:ext cx="3337560" cy="34747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600200"/>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783080"/>
            <a:ext cx="2926079" cy="411480"/>
          </a:xfrm>
          <a:prstGeom prst="rect">
            <a:avLst/>
          </a:prstGeom>
          <a:noFill/>
        </p:spPr>
        <p:txBody>
          <a:bodyPr wrap="none">
            <a:spAutoFit/>
          </a:bodyPr>
          <a:lstStyle/>
          <a:p>
            <a:pPr>
              <a:defRPr b="1" sz="1600">
                <a:solidFill>
                  <a:srgbClr val="142037"/>
                </a:solidFill>
              </a:defRPr>
            </a:pPr>
            <a:r>
              <a:rPr/>
              <a:t>03 | Model → System</a:t>
            </a:r>
          </a:p>
        </p:txBody>
      </p:sp>
      <p:sp>
        <p:nvSpPr>
          <p:cNvPr id="18" name="TextBox 17"/>
          <p:cNvSpPr txBox="1"/>
          <p:nvPr/>
        </p:nvSpPr>
        <p:spPr>
          <a:xfrm>
            <a:off x="8366760" y="2286000"/>
            <a:ext cx="2926079" cy="594360"/>
          </a:xfrm>
          <a:prstGeom prst="rect">
            <a:avLst/>
          </a:prstGeom>
          <a:noFill/>
        </p:spPr>
        <p:txBody>
          <a:bodyPr wrap="none">
            <a:spAutoFit/>
          </a:bodyPr>
          <a:lstStyle/>
          <a:p>
            <a:pPr>
              <a:defRPr b="1" sz="2800">
                <a:solidFill>
                  <a:srgbClr val="2E7D32"/>
                </a:solidFill>
              </a:defRPr>
            </a:pPr>
            <a:r>
              <a:rPr/>
              <a:t>Deployable</a:t>
            </a:r>
          </a:p>
        </p:txBody>
      </p:sp>
      <p:sp>
        <p:nvSpPr>
          <p:cNvPr id="19" name="TextBox 18"/>
          <p:cNvSpPr txBox="1"/>
          <p:nvPr/>
        </p:nvSpPr>
        <p:spPr>
          <a:xfrm>
            <a:off x="8366760" y="2926080"/>
            <a:ext cx="2926079" cy="2011679"/>
          </a:xfrm>
          <a:prstGeom prst="rect">
            <a:avLst/>
          </a:prstGeom>
          <a:noFill/>
        </p:spPr>
        <p:txBody>
          <a:bodyPr wrap="square">
            <a:spAutoFit/>
          </a:bodyPr>
          <a:lstStyle/>
          <a:p>
            <a:pPr>
              <a:defRPr sz="1200">
                <a:solidFill>
                  <a:srgbClr val="5F6978"/>
                </a:solidFill>
              </a:defRPr>
            </a:pPr>
            <a:r>
              <a:rPr/>
              <a:t>Kimi K3 was nearly perfect in the hosted task test, but its 2.8T total parameters push full on-prem deployment into supercluster-scale infrastructure. Qwen3.6 offers a more realistic local integration path for conventional enterprises. The final choice should balance quality, infrastructure, cost, governance, and maintainability.</a:t>
            </a:r>
          </a:p>
        </p:txBody>
      </p:sp>
      <p:sp>
        <p:nvSpPr>
          <p:cNvPr id="20" name="TextBox 19"/>
          <p:cNvSpPr txBox="1"/>
          <p:nvPr/>
        </p:nvSpPr>
        <p:spPr>
          <a:xfrm>
            <a:off x="777240" y="5669280"/>
            <a:ext cx="10607040" cy="502920"/>
          </a:xfrm>
          <a:prstGeom prst="rect">
            <a:avLst/>
          </a:prstGeom>
          <a:noFill/>
        </p:spPr>
        <p:txBody>
          <a:bodyPr wrap="none">
            <a:spAutoFit/>
          </a:bodyPr>
          <a:lstStyle/>
          <a:p>
            <a:pPr algn="ctr">
              <a:defRPr sz="1500">
                <a:solidFill>
                  <a:srgbClr val="C8D7EB"/>
                </a:solidFill>
              </a:defRPr>
            </a:pPr>
            <a:r>
              <a:rPr/>
              <a:t>Next step: 500–1,000 cases • 5-run repeatability • P50/P95 latency • token / throughput • shadow deployment</a:t>
            </a:r>
          </a:p>
        </p:txBody>
      </p:sp>
      <p:sp>
        <p:nvSpPr>
          <p:cNvPr id="21" name="TextBox 20"/>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94360"/>
          </a:xfrm>
          <a:prstGeom prst="rect">
            <a:avLst/>
          </a:prstGeom>
          <a:noFill/>
        </p:spPr>
        <p:txBody>
          <a:bodyPr wrap="none">
            <a:spAutoFit/>
          </a:bodyPr>
          <a:lstStyle/>
          <a:p>
            <a:pPr>
              <a:defRPr sz="2600" b="1">
                <a:solidFill>
                  <a:srgbClr val="142037"/>
                </a:solidFill>
              </a:defRPr>
            </a:pPr>
            <a:r>
              <a:rPr/>
              <a:t>Appendix | Evidence Used in This Deck</a:t>
            </a:r>
          </a:p>
        </p:txBody>
      </p:sp>
      <p:sp>
        <p:nvSpPr>
          <p:cNvPr id="4" name="TextBox 3"/>
          <p:cNvSpPr txBox="1"/>
          <p:nvPr/>
        </p:nvSpPr>
        <p:spPr>
          <a:xfrm>
            <a:off x="621792" y="932688"/>
            <a:ext cx="10789920" cy="384048"/>
          </a:xfrm>
          <a:prstGeom prst="rect">
            <a:avLst/>
          </a:prstGeom>
          <a:noFill/>
        </p:spPr>
        <p:txBody>
          <a:bodyPr wrap="none">
            <a:spAutoFit/>
          </a:bodyPr>
          <a:lstStyle/>
          <a:p>
            <a:pPr>
              <a:defRPr sz="1100">
                <a:solidFill>
                  <a:srgbClr val="5F6978"/>
                </a:solidFill>
              </a:defRPr>
            </a:pPr>
            <a:r>
              <a:rPr/>
              <a:t>Internal task evaluation, not an official vendor benchmark.</a:t>
            </a:r>
          </a:p>
        </p:txBody>
      </p:sp>
      <p:sp>
        <p:nvSpPr>
          <p:cNvPr id="5" name="TextBox 4"/>
          <p:cNvSpPr txBox="1"/>
          <p:nvPr/>
        </p:nvSpPr>
        <p:spPr>
          <a:xfrm>
            <a:off x="777240" y="1463040"/>
            <a:ext cx="10698480" cy="4297680"/>
          </a:xfrm>
          <a:prstGeom prst="rect">
            <a:avLst/>
          </a:prstGeom>
          <a:noFill/>
        </p:spPr>
        <p:txBody>
          <a:bodyPr wrap="square">
            <a:spAutoFit/>
          </a:bodyPr>
          <a:lstStyle/>
          <a:p>
            <a:pPr>
              <a:spcAft>
                <a:spcPts val="1000"/>
              </a:spcAft>
              <a:defRPr sz="1600">
                <a:solidFill>
                  <a:srgbClr val="1E242E"/>
                </a:solidFill>
              </a:defRPr>
            </a:pPr>
            <a:r>
              <a:rPr/>
              <a:t>Qwen3.6: 100 RawIDs, including 40 relevant and 60 irrelevant records. Composite score: 62/100. Text precision: 100%; recall: 83.3%; F1: 90.9%. Relevant RawID coverage: 57.5%. Unresolved recall: 0%.</a:t>
            </a:r>
          </a:p>
          <a:p>
            <a:pPr>
              <a:spcAft>
                <a:spcPts val="1000"/>
              </a:spcAft>
              <a:defRPr sz="1600">
                <a:solidFill>
                  <a:srgbClr val="1E242E"/>
                </a:solidFill>
              </a:defRPr>
            </a:pPr>
            <a:r>
              <a:rPr/>
              <a:t>Kimi K3: the same 100-record test scale. 40/40 relevant RawIDs, 6/6 complete messages, and 3/3 unresolved groups. Custom deployment-readiness score: 97/100. One cross-date evidence-governance issue remained.</a:t>
            </a:r>
          </a:p>
          <a:p>
            <a:pPr>
              <a:spcAft>
                <a:spcPts val="1000"/>
              </a:spcAft>
              <a:defRPr sz="1600">
                <a:solidFill>
                  <a:srgbClr val="1E242E"/>
                </a:solidFill>
              </a:defRPr>
            </a:pPr>
            <a:r>
              <a:rPr/>
              <a:t>The Qwen/Kimi comparison in this deck refers only to this internal fragmented-message reconstruction task and should not be generalized into a universal model ranking.</a:t>
            </a:r>
          </a:p>
          <a:p>
            <a:pPr>
              <a:spcAft>
                <a:spcPts val="1000"/>
              </a:spcAft>
              <a:defRPr sz="1600">
                <a:solidFill>
                  <a:srgbClr val="1E242E"/>
                </a:solidFill>
              </a:defRPr>
            </a:pPr>
            <a:r>
              <a:rPr/>
              <a:t>Before deployment: expand to 500–1,000 stress-test cases; rerun a fixed prompt and parameters at least five times; measure P50/P95 latency, throughput, token usage, and hardware resources.</a:t>
            </a:r>
          </a:p>
        </p:txBody>
      </p:sp>
      <p:sp>
        <p:nvSpPr>
          <p:cNvPr id="6" name="Rounded Rectangle 5"/>
          <p:cNvSpPr/>
          <p:nvPr/>
        </p:nvSpPr>
        <p:spPr>
          <a:xfrm>
            <a:off x="914400" y="5577840"/>
            <a:ext cx="10332720" cy="7315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5577840"/>
            <a:ext cx="73152" cy="731520"/>
          </a:xfrm>
          <a:prstGeom prst="rect">
            <a:avLst/>
          </a:prstGeom>
          <a:solidFill>
            <a:srgbClr val="142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5760720"/>
            <a:ext cx="9921240" cy="411480"/>
          </a:xfrm>
          <a:prstGeom prst="rect">
            <a:avLst/>
          </a:prstGeom>
          <a:noFill/>
        </p:spPr>
        <p:txBody>
          <a:bodyPr wrap="none">
            <a:spAutoFit/>
          </a:bodyPr>
          <a:lstStyle/>
          <a:p>
            <a:pPr>
              <a:defRPr b="1" sz="1600">
                <a:solidFill>
                  <a:srgbClr val="142037"/>
                </a:solidFill>
              </a:defRPr>
            </a:pPr>
            <a:r>
              <a:rPr/>
              <a:t>Research Claim</a:t>
            </a:r>
          </a:p>
        </p:txBody>
      </p:sp>
      <p:sp>
        <p:nvSpPr>
          <p:cNvPr id="9" name="TextBox 8"/>
          <p:cNvSpPr txBox="1"/>
          <p:nvPr/>
        </p:nvSpPr>
        <p:spPr>
          <a:xfrm>
            <a:off x="1143000" y="6291072"/>
            <a:ext cx="9921240" cy="-118872"/>
          </a:xfrm>
          <a:prstGeom prst="rect">
            <a:avLst/>
          </a:prstGeom>
          <a:noFill/>
        </p:spPr>
        <p:txBody>
          <a:bodyPr wrap="square">
            <a:spAutoFit/>
          </a:bodyPr>
          <a:lstStyle/>
          <a:p>
            <a:pPr>
              <a:defRPr sz="1200">
                <a:solidFill>
                  <a:srgbClr val="5F6978"/>
                </a:solidFill>
              </a:defRPr>
            </a:pPr>
            <a:r>
              <a:rPr/>
              <a:t>Model capability matters, but the minimum deployable unit is the combination of model, prompt, validator, and review policy.</a:t>
            </a:r>
          </a:p>
        </p:txBody>
      </p:sp>
      <p:sp>
        <p:nvSpPr>
          <p:cNvPr id="10" name="TextBox 9"/>
          <p:cNvSpPr txBox="1"/>
          <p:nvPr/>
        </p:nvSpPr>
        <p:spPr>
          <a:xfrm>
            <a:off x="10881360" y="6446520"/>
            <a:ext cx="731520" cy="228600"/>
          </a:xfrm>
          <a:prstGeom prst="rect">
            <a:avLst/>
          </a:prstGeom>
          <a:noFill/>
        </p:spPr>
        <p:txBody>
          <a:bodyPr wrap="none">
            <a:spAutoFit/>
          </a:bodyPr>
          <a:lstStyle/>
          <a:p>
            <a:pPr algn="r">
              <a:defRPr sz="900">
                <a:solidFill>
                  <a:srgbClr val="5F6978"/>
                </a:solidFill>
              </a:defRPr>
            </a:pPr>
            <a:r>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