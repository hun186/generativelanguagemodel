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本次固定測試集：100 RawID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樣本數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相關 RawID</c:v>
                </c:pt>
                <c:pt idx="1">
                  <c:v>不相關 RawID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Qwen3.6：核心品質指標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Qwen3.6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正文 Precision</c:v>
                </c:pt>
                <c:pt idx="1">
                  <c:v>正文 Recall</c:v>
                </c:pt>
                <c:pt idx="2">
                  <c:v>RawID Coverage</c:v>
                </c:pt>
                <c:pt idx="3">
                  <c:v>EvidenceGroup F1</c:v>
                </c:pt>
                <c:pt idx="4">
                  <c:v>Raw Trace</c:v>
                </c:pt>
                <c:pt idx="5">
                  <c:v>Unresolved Recall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83.3</c:v>
                </c:pt>
                <c:pt idx="2">
                  <c:v>57.5</c:v>
                </c:pt>
                <c:pt idx="3">
                  <c:v>42.9</c:v>
                </c:pt>
                <c:pt idx="4">
                  <c:v>40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Kimi K3：自訂加權構面得分率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得分率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相關性篩選</c:v>
                </c:pt>
                <c:pt idx="1">
                  <c:v>正文還原</c:v>
                </c:pt>
                <c:pt idx="2">
                  <c:v>Unresolved</c:v>
                </c:pt>
                <c:pt idx="3">
                  <c:v>Trace / RawID</c:v>
                </c:pt>
                <c:pt idx="4">
                  <c:v>JSON / 稽核</c:v>
                </c:pt>
                <c:pt idx="5">
                  <c:v>時序治理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本次實測對比（% / 自訂分數）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Qwen3.6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正文能力</c:v>
                </c:pt>
                <c:pt idx="1">
                  <c:v>RawID 覆蓋</c:v>
                </c:pt>
                <c:pt idx="2">
                  <c:v>Unresolved</c:v>
                </c:pt>
                <c:pt idx="3">
                  <c:v>Evidence / Trace</c:v>
                </c:pt>
                <c:pt idx="4">
                  <c:v>部署成熟度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90.9</c:v>
                </c:pt>
                <c:pt idx="1">
                  <c:v>57.5</c:v>
                </c:pt>
                <c:pt idx="2">
                  <c:v>0</c:v>
                </c:pt>
                <c:pt idx="3">
                  <c:v>50</c:v>
                </c:pt>
                <c:pt idx="4">
                  <c:v>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Kimi K3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正文能力</c:v>
                </c:pt>
                <c:pt idx="1">
                  <c:v>RawID 覆蓋</c:v>
                </c:pt>
                <c:pt idx="2">
                  <c:v>Unresolved</c:v>
                </c:pt>
                <c:pt idx="3">
                  <c:v>Evidence / Trace</c:v>
                </c:pt>
                <c:pt idx="4">
                  <c:v>部署成熟度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這一頁是整個部署比較最重要的地方。Kimi K3 在我們的簡訊重建測試裡幾乎做到完美，但它同時是一個非常龐大的模型。K3 的總參數大約是二點八兆，每個 token 啟用約一千零四十億參數，並具有八百九十六個 experts。這裡要注意，104B active parameters 主要降低的是計算量，並不代表只需要 104B 模型的 GPU RAM。用四位元做最粗略的 weight-only 估算，二點八兆參數本身就大約是一點四 TB，而且實際服務還需要 KV cache、workspace 和 communication buffers。當記憶體需求進入 TB 級，問題就從 GPU 數量進一步變成 GPU 陣列工程，包括高速互連、Expert Parallelism、跨節點 all-to-all communication、排程與容錯。也就是說，K3 的能力非常吸引人，但對一般企業而言，完整本地部署通常已經不是一般伺服器專案，而是大型 AI cluster 專案。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0"/>
            <a:ext cx="3840480" cy="658368"/>
          </a:xfrm>
          <a:prstGeom prst="roundRect">
            <a:avLst/>
          </a:prstGeom>
          <a:solidFill>
            <a:srgbClr val="233755"/>
          </a:solidFill>
          <a:ln>
            <a:solidFill>
              <a:srgbClr val="5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5720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海纜工程區 E-12 今晚八時起…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4005072"/>
            <a:ext cx="3840480" cy="658368"/>
          </a:xfrm>
          <a:prstGeom prst="roundRect">
            <a:avLst/>
          </a:prstGeom>
          <a:solidFill>
            <a:srgbClr val="2D415F"/>
          </a:solidFill>
          <a:ln>
            <a:solidFill>
              <a:srgbClr val="5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5608" y="41879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…距施工船與警戒浮標三浬…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3621024"/>
            <a:ext cx="3840480" cy="658368"/>
          </a:xfrm>
          <a:prstGeom prst="roundRect">
            <a:avLst/>
          </a:prstGeom>
          <a:solidFill>
            <a:srgbClr val="374B69"/>
          </a:solidFill>
          <a:ln>
            <a:solidFill>
              <a:srgbClr val="5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8528" y="380390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…先聯絡警戒船確認通行。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從碎片到可稽核訊息</a:t>
            </a:r>
          </a:p>
          <a:p>
            <a:pPr>
              <a:defRPr sz="2000">
                <a:solidFill>
                  <a:srgbClr val="C3D7F5"/>
                </a:solidFill>
              </a:defRPr>
            </a:pPr>
            <a:r>
              <a:t>LLM Text Reconstruction：模擬資料、提示調優、開源模型驗測與落地部署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803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3DC"/>
                </a:solidFill>
              </a:defRPr>
            </a:pPr>
            <a:r>
              <a:t>ChatGPT → Synthetic Dataset &amp; Prompt Engineering  |  Qwen3.6 → Local Evaluation  |  Kimi K3 → Hugging Face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1. 問題不是「摘要」，而是「重建」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Fragment reconstruction requires provenance, ordering, and uncertainty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" cy="4206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輸入：破碎且混雜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2971800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同一則簡訊可能被拆成多段；不同訊息時間接近；還可能夾雜傳輸雜訊、缺段與重複廣播。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73152" cy="42062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核心任務：安全配對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76272"/>
            <a:ext cx="2971800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判斷哪些 RawID 屬於同一次 Occurrence、正確排序、保留原文，且不能因「看起來合理」就補字或跨事件拼接。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73152" cy="4206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459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輸出：可稽核結果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76272"/>
            <a:ext cx="2971800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RecoveredContent 之外，還要有 EvidenceGroups、RawID ledger、Unresolved、trace、confidence 與 review gate。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2. 方法論：把 ChatGPT 當成研究加速器，而不是最終裁判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A human-in-the-loop experimental loop for prompt and model evaluation.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874519"/>
            <a:ext cx="658368" cy="658368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02996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7"/>
                </a:solidFill>
              </a:defRPr>
            </a:pPr>
            <a:r>
              <a:t>ChatGPT 產製</a:t>
            </a:r>
            <a:br/>
            <a:r>
              <a:t>模擬資料集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93391" y="2057400"/>
            <a:ext cx="594360" cy="274320"/>
          </a:xfrm>
          <a:prstGeom prst="rightArrow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07791" y="1874519"/>
            <a:ext cx="658368" cy="65836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202996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743200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7"/>
                </a:solidFill>
              </a:defRPr>
            </a:pPr>
            <a:r>
              <a:t>建立人工基準</a:t>
            </a:r>
            <a:br/>
            <a:r>
              <a:t>與硬規則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95344" y="2057400"/>
            <a:ext cx="594360" cy="274320"/>
          </a:xfrm>
          <a:prstGeom prst="rightArrow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09744" y="1874519"/>
            <a:ext cx="658368" cy="65836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28616" y="202996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2743200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7"/>
                </a:solidFill>
              </a:defRPr>
            </a:pPr>
            <a:r>
              <a:t>開源模型</a:t>
            </a:r>
            <a:br/>
            <a:r>
              <a:t>盲測重建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97296" y="2057400"/>
            <a:ext cx="594360" cy="274320"/>
          </a:xfrm>
          <a:prstGeom prst="rightArrow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11696" y="1874519"/>
            <a:ext cx="658368" cy="658368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202996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2743200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7"/>
                </a:solidFill>
              </a:defRPr>
            </a:pPr>
            <a:r>
              <a:t>ChatGPT 協助</a:t>
            </a:r>
            <a:br/>
            <a:r>
              <a:t>錯誤分析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699248" y="2057400"/>
            <a:ext cx="594360" cy="274320"/>
          </a:xfrm>
          <a:prstGeom prst="rightArrow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13648" y="1874519"/>
            <a:ext cx="658368" cy="658368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02996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743200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7"/>
                </a:solidFill>
              </a:defRPr>
            </a:pPr>
            <a:r>
              <a:t>逐步調優</a:t>
            </a:r>
            <a:br/>
            <a:r>
              <a:t>Prompt /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01200" y="2057400"/>
            <a:ext cx="594360" cy="274320"/>
          </a:xfrm>
          <a:prstGeom prst="rightArrow">
            <a:avLst/>
          </a:prstGeom>
          <a:solidFill>
            <a:srgbClr val="C8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0" y="1874519"/>
            <a:ext cx="658368" cy="6583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34472" y="202996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743200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7"/>
                </a:solidFill>
              </a:defRPr>
            </a:pPr>
            <a:r>
              <a:t>固定測試集</a:t>
            </a:r>
            <a:br/>
            <a:r>
              <a:t>重新驗證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42E"/>
                </a:solidFill>
              </a:defRPr>
            </a:pPr>
            <a:r>
              <a:t>關鍵原則：測試資料與評分規則固定後，才比較不同模型。</a:t>
            </a:r>
          </a:p>
          <a:p>
            <a:pPr>
              <a:spcAft>
                <a:spcPts val="1000"/>
              </a:spcAft>
              <a:defRPr sz="1600">
                <a:solidFill>
                  <a:srgbClr val="1E242E"/>
                </a:solidFill>
              </a:defRPr>
            </a:pPr>
            <a:r>
              <a:t>Prompt 調優的目標不是讓單一案例「看起來對」，而是降低可重複的 failure modes。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3. 用 ChatGPT 產製模擬資料集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Synthetic data makes rare failure cases controllable and repeatable.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完整正文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23317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先生成具事件錨點的完整通知，例如海纜工程、船團管制、軍演與海象警告。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2044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520440"/>
            <a:ext cx="73152" cy="1828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切片與擾動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33672"/>
            <a:ext cx="23317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將正文拆成 2–4 段，加入時間差、不同收件者、重複廣播、雜訊與缺段。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4173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1417320"/>
            <a:ext cx="73152" cy="1828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6002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負樣本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130552"/>
            <a:ext cx="23317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加入 60 筆不相關片段，測試模型是否因語意相似而誤接。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52044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03320" y="3520440"/>
            <a:ext cx="73152" cy="1828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70332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Gold 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233672"/>
            <a:ext cx="23317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人工確認完整訊息、EvidenceGroups、unresolved 群組與 RawID 唯一去向。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7315200" y="1417320"/>
          <a:ext cx="40233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52360" y="46634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42E"/>
                </a:solidFill>
              </a:defRPr>
            </a:pPr>
            <a:r>
              <a:t>設計重點：完整案例 + 不完整案例 + 干擾案例，同時存在。</a:t>
            </a:r>
          </a:p>
          <a:p>
            <a:pPr>
              <a:spcAft>
                <a:spcPts val="1000"/>
              </a:spcAft>
              <a:defRPr sz="1400">
                <a:solidFill>
                  <a:srgbClr val="1E242E"/>
                </a:solidFill>
              </a:defRPr>
            </a:pPr>
            <a:r>
              <a:t>因此模型必須學會「不知道時不要硬合併」。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4. Prompt 調優：從「語意合理」走向「可驗證」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Prompt engineering was driven by observed errors, not by stylistic preference.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234440" cy="658368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V1 語意拼接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444752"/>
            <a:ext cx="3840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只要求找出可接續片段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444752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容易為了通順刪重複字、補缺字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1234440" cy="65836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V2 加入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404872"/>
            <a:ext cx="3840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Address / time window 成為約束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404872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降低跨來源誤接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1234440" cy="658368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204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V3 加入 RawID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364992"/>
            <a:ext cx="3840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每個相關片段必須唯一去向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364992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暴露漏列與重複使用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1234440" cy="658368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48056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V4 加入 Unresolved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325112"/>
            <a:ext cx="3840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無法唯一重建就保留不確定性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325112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避免 hallucinated completion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234440" cy="65836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V5 加入 Trace + Validator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285232"/>
            <a:ext cx="3840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原始邊界可逆、Schema 可程式檢查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285232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從好看的答案變成可稽核輸出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5. 評估框架：不能只看正文是否通順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Evaluation unit = reconstructed text + evidence chain + uncertainty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正文 Exact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30175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字詞與順序是否忠於原文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691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Relevant RawID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30175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所有相關片段是否都有唯一去向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73152" cy="16916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EvidenceGroup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30552"/>
            <a:ext cx="30175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證據鏈是否完整且無誤接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73152" cy="1691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490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Raw / Clean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79392"/>
            <a:ext cx="301752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能否逐字回放與驗證雜訊清理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66160"/>
            <a:ext cx="73152" cy="16916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7490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Unresolved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79392"/>
            <a:ext cx="301752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缺段或歧義是否被安全保留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566160"/>
            <a:ext cx="73152" cy="169164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7490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JSON / Referential Integrity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79392"/>
            <a:ext cx="301752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輸出能否由程式穩定消化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6. Qwen3.6 本地實測：正文強，但稽核鏈不足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100 RawID fixed test set — local open-model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5544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綜合分數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7C00"/>
                </a:solidFill>
              </a:defRPr>
            </a:pPr>
            <a:r>
              <a:t>62 /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0574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正文還原能力佳，但 RawID 覆蓋、證據鏈與 unresolved 處理未達上線門檻。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73152" cy="15544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正文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962FF"/>
                </a:solidFill>
              </a:defRPr>
            </a:pPr>
            <a:r>
              <a:t>90.9%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20574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Precision 100%；Recall 83.3%。已輸出的 5 則完整正文全部正確。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73152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88152"/>
            <a:ext cx="20574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適合作為「候選正文產生器」，後接 deterministic validator 與人工覆核。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3429000" y="1417320"/>
          <a:ext cx="8046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0" y="58064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42E"/>
                </a:solidFill>
              </a:defRPr>
            </a:pPr>
            <a:r>
              <a:t>主要風險：17/40 相關 RawID 無最終去向；3 個應 unresolved 的群組完全未正確承接。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7. Kimi K3（Hugging Face）實測：核心任務近乎完整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Same 100 RawID test set — open-model evaluation through hosted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部署成熟度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E7D32"/>
                </a:solidFill>
              </a:defRPr>
            </a:pPr>
            <a:r>
              <a:t>97 /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0574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自訂加權品質分數；核心任務正確，但仍有跨日期 evidence 治理風險。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73152" cy="1554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核心任務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9688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20574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40/40 相關 RawID；6/6 完整正文；3/3 unresolved 群組處置正確。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73152" cy="10058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注意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88152"/>
            <a:ext cx="20574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單次 100 筆靜態測試不代表一般化，也未涵蓋本地 latency / throughput / cost。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3429000" y="1417320"/>
          <a:ext cx="8046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0" y="58064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42E"/>
                </a:solidFill>
              </a:defRPr>
            </a:pPr>
            <a:r>
              <a:t>殘留問題：一組 EvidenceGroup 跨日期，顯示「同正文證據」與「同一次發送」仍需分層建模。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8. 同一任務的對比：模型能力差距主要出現在「治理」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Both models can reconstruct text; the difference is how safely they manage evidence.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43800" y="1508760"/>
            <a:ext cx="3931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508760"/>
            <a:ext cx="73152" cy="14173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39"/>
            <a:ext cx="35204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Qwen3.6 的優勢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21991"/>
            <a:ext cx="35204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已能本地執行；正文精度高；容易納入既有內網與資料治理流程。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154680"/>
            <a:ext cx="3931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3154680"/>
            <a:ext cx="73152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337560"/>
            <a:ext cx="35204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Kimi K3 的優勢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867912"/>
            <a:ext cx="3520439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在本次固定測試集上對 evidence、unresolved 與 RawID ledger 的遵循明顯較完整。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800600"/>
            <a:ext cx="3931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800600"/>
            <a:ext cx="73152" cy="10515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983480"/>
            <a:ext cx="35204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公平性限制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513832"/>
            <a:ext cx="352043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Kimi 結果來自 Hugging Face 環境；Qwen 為本地環境。此圖是任務品質比較，不是純模型速度 benchmark。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037"/>
                </a:solidFill>
              </a:defRPr>
            </a:pPr>
            <a:r>
              <a:t>9. Kimi K3 本地部署：極佳任務效能，卻是超大型叢集級模型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2.8T total parameters / 104B activated per token — sparse compute does not mean a small memory footprint.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73152" cy="1874519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08760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037"/>
                </a:solidFill>
              </a:defRPr>
            </a:pPr>
            <a:r>
              <a:t>模型規模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30449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962FF"/>
                </a:solidFill>
              </a:defRPr>
            </a:pPr>
            <a:r>
              <a:t>2.8T total / 104B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23744"/>
            <a:ext cx="3044952" cy="612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Kimi K3 為超大型 MoE：總參數約 2.8T、每 token 啟用約 104B、896 個 experts、每 token 選 16 個。稀疏啟用降低計算量，但不會把模型變成 104B 級的記憶體需求。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73152" cy="1874519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508760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037"/>
                </a:solidFill>
              </a:defRPr>
            </a:pPr>
            <a:r>
              <a:t>權重記憶體量級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38528"/>
            <a:ext cx="30449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57C00"/>
                </a:solidFill>
              </a:defRPr>
            </a:pPr>
            <a:r>
              <a:t>≈ 1.4 TB raw 4-bit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523744"/>
            <a:ext cx="3044952" cy="612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以 4-bit 做最粗略的 weight-only 下限估算：2.8T × 0.5 byte ≈ 1.4 TB。K3 採 MXFP4 weights；實際 GPU RAM 還要加上格式開銷、KV cache、workspace、buffers 與服務餘裕。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1874519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508760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037"/>
                </a:solidFill>
              </a:defRPr>
            </a:pPr>
            <a:r>
              <a:t>不是「多買幾張 GPU」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1938528"/>
            <a:ext cx="304495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D32F2F"/>
                </a:solidFill>
              </a:defRPr>
            </a:pPr>
            <a:r>
              <a:t>Cluster-scale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523744"/>
            <a:ext cx="3044952" cy="612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當 aggregate VRAM 進入 TB 級，模型必須切分到大量 accelerator。這會把部署從單機 inference 推進到 multi-GPU / multi-node distributed serving。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118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611880"/>
            <a:ext cx="73152" cy="1965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749040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037"/>
                </a:solidFill>
              </a:defRPr>
            </a:pPr>
            <a:r>
              <a:t>GPU 陣列串接問題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178808"/>
            <a:ext cx="3044952" cy="1289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大量 GPU 共同服務時，需要 NVLink/NVSwitch 或高速 InfiniBand/RDMA，並處理 Tensor / Expert Parallelism、all-to-all expert routing、跨節點同步與 topology-aware placement。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6118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3611880"/>
            <a:ext cx="73152" cy="19659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1144" y="3749040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037"/>
                </a:solidFill>
              </a:defRPr>
            </a:pPr>
            <a:r>
              <a:t>隱藏的企業成本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178808"/>
            <a:ext cx="3044952" cy="1289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GPU 採購只是起點；還包含高功率供電、散熱、網路 fabric、機櫃空間、分散式 runtime、容錯監控與具大型模型叢集經驗的維運人力。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6118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611880"/>
            <a:ext cx="73152" cy="1965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3749040"/>
            <a:ext cx="30449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037"/>
                </a:solidFill>
              </a:defRPr>
            </a:pPr>
            <a:r>
              <a:t>實務結論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4178808"/>
            <a:ext cx="3044952" cy="1289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K3 在本研究的 hosted 測試近乎完美，但完整 on-premises 部署對一般企業通常不具現實性。若沒有既有大型 AI cluster，Hosted inference/API 更合理；內網需求則宜選較小、可控的模型。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10. 建議落地架構：LLM 負責推理，程式負責守門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Do not ask the model to be both the reasoner and the auditor.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417320" cy="96012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Raw SMS</a:t>
            </a:r>
            <a:br/>
            <a:r>
              <a:t>Fragments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65960" y="2450591"/>
            <a:ext cx="457200" cy="256032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23160" y="2103120"/>
            <a:ext cx="1417320" cy="960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2331720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Candidate</a:t>
            </a:r>
            <a:br/>
            <a:r>
              <a:t>Generator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2450591"/>
            <a:ext cx="457200" cy="256032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1417320" cy="9601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331720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LLM</a:t>
            </a:r>
            <a:br/>
            <a:r>
              <a:t>Assembler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15000" y="2450591"/>
            <a:ext cx="457200" cy="256032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2103120"/>
            <a:ext cx="1417320" cy="96012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2331720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Deterministic</a:t>
            </a:r>
            <a:br/>
            <a:r>
              <a:t>Validator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89520" y="2450591"/>
            <a:ext cx="457200" cy="256032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1417320" cy="960120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2331720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Human Review</a:t>
            </a:r>
            <a:br/>
            <a:r>
              <a:t>Gate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64040" y="2450591"/>
            <a:ext cx="457200" cy="256032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21240" y="2103120"/>
            <a:ext cx="1417320" cy="9601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2331720"/>
            <a:ext cx="1271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Canonical</a:t>
            </a:r>
            <a:br/>
            <a:r>
              <a:t>Message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160520"/>
            <a:ext cx="31089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160520"/>
            <a:ext cx="73152" cy="1280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343400"/>
            <a:ext cx="2697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Validator 必查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873752"/>
            <a:ext cx="2697479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JSON Schema、RawID 唯一性、coverage、referential integrity、trace 可逆性。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4160520"/>
            <a:ext cx="31089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4160520"/>
            <a:ext cx="73152" cy="12801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4343400"/>
            <a:ext cx="2697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ReviewRequired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873752"/>
            <a:ext cx="2697479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跨日期、超時窗、多條同樣合理鏈、缺段與 conflict 一律進人工覆核。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160520"/>
            <a:ext cx="31089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160520"/>
            <a:ext cx="73152" cy="1280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4343400"/>
            <a:ext cx="2697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可替換模型層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873752"/>
            <a:ext cx="2697479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Qwen / Kimi 可在同一介面下 A/B test；避免把整套治理綁死在單一模型。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11. 結論：真正可落地的不是「一個模型」，而是一套可驗證流程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DD7E6"/>
                </a:solidFill>
              </a:defRPr>
            </a:pPr>
            <a:r>
              <a:t>Three takeaways from the experiment.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3474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01｜Synthetic →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926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962FF"/>
                </a:solidFill>
              </a:defRPr>
            </a:pPr>
            <a:r>
              <a:t>可重複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2926079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ChatGPT 讓我們快速建立可控制的模擬資料與 corner cases；但最終評分仍由固定基準與硬規則決定。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3474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02｜Prompt →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26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7C00"/>
                </a:solidFill>
              </a:defRPr>
            </a:pPr>
            <a:r>
              <a:t>可稽核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2926079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逐步調優的重點，是把隱性的研究判準寫成明確 protocol：ledger、unresolved、trace、validator。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00200"/>
            <a:ext cx="73152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78308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03｜Model →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2926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E7D32"/>
                </a:solidFill>
              </a:defRPr>
            </a:pPr>
            <a:r>
              <a:t>可部署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26080"/>
            <a:ext cx="2926079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Kimi K3 在本次 hosted 測試的任務品質近乎完美，但 2.8T 總參數使完整本地部署進入超大型 GPU 叢集等級；相較之下，Qwen3.6 的本地整合路徑更符合一般企業現實。最終選擇應以品質 × 基礎設施 × 成本 × 治理 × 維運共同決定。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8D7EB"/>
                </a:solidFill>
              </a:defRPr>
            </a:pPr>
            <a:r>
              <a:t>Next step: 500–1,000 cases • 5-run repeatability • P50/P95 latency • token / throughput • shadow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037"/>
                </a:solidFill>
              </a:defRPr>
            </a:pPr>
            <a:r>
              <a:t>附錄｜本簡報採用的實測依據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8"/>
                </a:solidFill>
              </a:defRPr>
            </a:pPr>
            <a:r>
              <a:t>Internal task evaluation, not an official vendor benchmark.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42E"/>
                </a:solidFill>
              </a:defRPr>
            </a:pPr>
            <a:r>
              <a:t>Qwen3.6：100 筆 RawID；40 筆相關、60 筆不相關。綜合分數 62/100；正文 Precision 100%、Recall 83.3%、F1 90.9%；相關 RawID coverage 57.5%；Unresolved recall 0%。</a:t>
            </a:r>
          </a:p>
          <a:p>
            <a:pPr>
              <a:spcAft>
                <a:spcPts val="1000"/>
              </a:spcAft>
              <a:defRPr sz="1600">
                <a:solidFill>
                  <a:srgbClr val="1E242E"/>
                </a:solidFill>
              </a:defRPr>
            </a:pPr>
            <a:r>
              <a:t>Kimi K3：同規模 100 筆測試。40/40 相關 RawID、6/6 完整正文、3/3 unresolved 群組；自訂部署成熟度 97/100；仍有一組跨日期 evidence 治理問題。</a:t>
            </a:r>
          </a:p>
          <a:p>
            <a:pPr>
              <a:spcAft>
                <a:spcPts val="1000"/>
              </a:spcAft>
              <a:defRPr sz="1600">
                <a:solidFill>
                  <a:srgbClr val="1E242E"/>
                </a:solidFill>
              </a:defRPr>
            </a:pPr>
            <a:r>
              <a:t>因此簡報中的 Qwen / Kimi 效能比較，指的是這個「簡訊片段重建」任務的內部實測結果，不應外推成通用模型排行榜。</a:t>
            </a:r>
          </a:p>
          <a:p>
            <a:pPr>
              <a:spcAft>
                <a:spcPts val="1000"/>
              </a:spcAft>
              <a:defRPr sz="1600">
                <a:solidFill>
                  <a:srgbClr val="1E242E"/>
                </a:solidFill>
              </a:defRPr>
            </a:pPr>
            <a:r>
              <a:t>部署前建議：擴充至 500–1,000 筆壓力測試；固定 prompt/參數重跑至少 5 次；補測 P50/P95 latency、throughput、token 與硬體資源。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577840"/>
            <a:ext cx="10332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577840"/>
            <a:ext cx="73152" cy="73152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760720"/>
            <a:ext cx="9921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037"/>
                </a:solidFill>
              </a:defRPr>
            </a:pPr>
            <a:r>
              <a:t>研究主張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291072"/>
            <a:ext cx="992124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模型能力很重要，但「模型 + prompt + validator + review policy」才是實務部署的最小完整單位。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